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4"/>
  </p:notesMasterIdLst>
  <p:sldIdLst>
    <p:sldId id="257" r:id="rId2"/>
    <p:sldId id="10744" r:id="rId3"/>
    <p:sldId id="10746" r:id="rId4"/>
    <p:sldId id="259" r:id="rId5"/>
    <p:sldId id="260" r:id="rId6"/>
    <p:sldId id="1589" r:id="rId7"/>
    <p:sldId id="2123" r:id="rId8"/>
    <p:sldId id="2122" r:id="rId9"/>
    <p:sldId id="278" r:id="rId10"/>
    <p:sldId id="277" r:id="rId11"/>
    <p:sldId id="261" r:id="rId12"/>
    <p:sldId id="263" r:id="rId13"/>
    <p:sldId id="10743" r:id="rId14"/>
    <p:sldId id="262" r:id="rId15"/>
    <p:sldId id="10748" r:id="rId16"/>
    <p:sldId id="10747" r:id="rId17"/>
    <p:sldId id="271" r:id="rId18"/>
    <p:sldId id="272" r:id="rId19"/>
    <p:sldId id="273" r:id="rId20"/>
    <p:sldId id="274" r:id="rId21"/>
    <p:sldId id="275" r:id="rId22"/>
    <p:sldId id="276" r:id="rId23"/>
  </p:sldIdLst>
  <p:sldSz cx="12192000" cy="6858000"/>
  <p:notesSz cx="6858000" cy="9144000"/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8" y="8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9CED17-9E9F-4FC2-84CC-8FC48595244C}" type="datetimeFigureOut">
              <a:rPr kumimoji="1" lang="ja-JP" altLang="en-US" smtClean="0"/>
              <a:t>2026/6/12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0461A2-9FEB-42C9-95CE-CE909666CF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82525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0E1739-70A2-467C-A0CA-F4330F170094}" type="slidenum">
              <a:rPr kumimoji="0" lang="en-US" sz="18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942391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0E1739-70A2-467C-A0CA-F4330F170094}" type="slidenum">
              <a:rPr kumimoji="0" lang="en-US" sz="18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966362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jp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18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0.jp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6.jpeg"/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Master" Target="../slideMasters/slideMaster1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Master" Target="../slideMasters/slideMaster1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Master" Target="../slideMasters/slideMaster1.xml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1.jpeg"/><Relationship Id="rId1" Type="http://schemas.openxmlformats.org/officeDocument/2006/relationships/slideMaster" Target="../slideMasters/slideMaster1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2.png"/><Relationship Id="rId1" Type="http://schemas.openxmlformats.org/officeDocument/2006/relationships/slideMaster" Target="../slideMasters/slideMaster1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lki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MS logo white - EMF" descr="Microsoft logo white text version">
            <a:extLst>
              <a:ext uri="{FF2B5EF4-FFF2-40B4-BE49-F238E27FC236}">
                <a16:creationId xmlns:a16="http://schemas.microsoft.com/office/drawing/2014/main" id="{F7CD6B1F-AE52-08A4-59DD-ADA3920FEFA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3B4BC62-442D-D07F-D062-B23F459AF590}"/>
              </a:ext>
            </a:extLst>
          </p:cNvPr>
          <p:cNvSpPr txBox="1"/>
          <p:nvPr/>
        </p:nvSpPr>
        <p:spPr>
          <a:xfrm>
            <a:off x="584200" y="2841172"/>
            <a:ext cx="3790950" cy="1495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sz="5400" b="0" dirty="0">
                <a:solidFill>
                  <a:schemeClr val="bg1"/>
                </a:solidFill>
                <a:latin typeface="+mj-lt"/>
              </a:rPr>
              <a:t>Microsoft Azure</a:t>
            </a:r>
          </a:p>
        </p:txBody>
      </p:sp>
    </p:spTree>
    <p:extLst>
      <p:ext uri="{BB962C8B-B14F-4D97-AF65-F5344CB8AC3E}">
        <p14:creationId xmlns:p14="http://schemas.microsoft.com/office/powerpoint/2010/main" val="1837801934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Walkin">
    <p:bg>
      <p:bgPr>
        <a:blipFill dpi="0" rotWithShape="1">
          <a:blip r:embed="rId2">
            <a:lum/>
          </a:blip>
          <a:srcRect/>
          <a:stretch>
            <a:fillRect t="-3000" b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3B4BC62-442D-D07F-D062-B23F459AF590}"/>
              </a:ext>
            </a:extLst>
          </p:cNvPr>
          <p:cNvSpPr txBox="1"/>
          <p:nvPr/>
        </p:nvSpPr>
        <p:spPr>
          <a:xfrm>
            <a:off x="584200" y="2841172"/>
            <a:ext cx="3790950" cy="1495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sz="5400" b="0" dirty="0">
                <a:solidFill>
                  <a:schemeClr val="tx1"/>
                </a:solidFill>
                <a:latin typeface="+mj-lt"/>
              </a:rPr>
              <a:t>Microsoft Azure</a:t>
            </a:r>
          </a:p>
        </p:txBody>
      </p:sp>
      <p:pic>
        <p:nvPicPr>
          <p:cNvPr id="5" name="MS logo gray - EMF" descr="Microsoft logo, gray text version">
            <a:extLst>
              <a:ext uri="{FF2B5EF4-FFF2-40B4-BE49-F238E27FC236}">
                <a16:creationId xmlns:a16="http://schemas.microsoft.com/office/drawing/2014/main" id="{8672AF12-6140-9E72-C268-A8ED4080CAD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49900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 スライ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55284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6590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bg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4" name="MS logo white - EMF" descr="Microsoft logo white text version">
            <a:extLst>
              <a:ext uri="{FF2B5EF4-FFF2-40B4-BE49-F238E27FC236}">
                <a16:creationId xmlns:a16="http://schemas.microsoft.com/office/drawing/2014/main" id="{0BB37EE3-73AC-5546-F43B-FE5420C7D02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2699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bg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4" name="MS logo white - EMF" descr="Microsoft logo white text version">
            <a:extLst>
              <a:ext uri="{FF2B5EF4-FFF2-40B4-BE49-F238E27FC236}">
                <a16:creationId xmlns:a16="http://schemas.microsoft.com/office/drawing/2014/main" id="{0BB37EE3-73AC-5546-F43B-FE5420C7D02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4222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2" name="MS logo gray - EMF" descr="Microsoft logo, gray text version">
            <a:extLst>
              <a:ext uri="{FF2B5EF4-FFF2-40B4-BE49-F238E27FC236}">
                <a16:creationId xmlns:a16="http://schemas.microsoft.com/office/drawing/2014/main" id="{BBFAAA10-F521-410E-1BB5-6D77902DD0C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4780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2" name="MS logo gray - EMF" descr="Microsoft logo, gray text version">
            <a:extLst>
              <a:ext uri="{FF2B5EF4-FFF2-40B4-BE49-F238E27FC236}">
                <a16:creationId xmlns:a16="http://schemas.microsoft.com/office/drawing/2014/main" id="{BBFAAA10-F521-410E-1BB5-6D77902DD0C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4114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3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9309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 3">
    <p:bg>
      <p:bgPr>
        <a:blipFill dpi="0" rotWithShape="1">
          <a:blip r:embed="rId2">
            <a:lum/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0349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918223"/>
            <a:ext cx="9144000" cy="615553"/>
          </a:xfrm>
          <a:noFill/>
        </p:spPr>
        <p:txBody>
          <a:bodyPr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2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91440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3B0D12AE-ADCF-1091-117F-BB03F7EC506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621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8CE50-46CE-0973-AC08-7477BEAD0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03424D10-01E7-37F9-6091-2C95487D9F7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8275"/>
            <a:ext cx="2532063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FDFE8ED1-0EC9-B339-1813-0B4260A0A2D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 dirty="0"/>
            </a:lvl1pPr>
            <a:lvl2pPr>
              <a:defRPr lang="en-US" sz="1600" dirty="0"/>
            </a:lvl2pPr>
            <a:lvl3pPr>
              <a:defRPr lang="en-US" sz="16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823006D8-810A-DCBB-7E79-17F6322E2FF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125" y="1438275"/>
            <a:ext cx="2533650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ADAAB847-57CB-2458-2ADA-6D77707940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13125" y="227647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 dirty="0"/>
            </a:lvl1pPr>
            <a:lvl2pPr>
              <a:defRPr lang="en-US" sz="1600" dirty="0"/>
            </a:lvl2pPr>
            <a:lvl3pPr>
              <a:defRPr lang="en-US" sz="16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B655A31-FF73-73EA-1EA8-00F13891AB9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4208" y="1438275"/>
            <a:ext cx="2532063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819634A-80BB-C620-3C16-1EA80A7B1C1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244208" y="228311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 dirty="0"/>
            </a:lvl1pPr>
            <a:lvl2pPr>
              <a:defRPr lang="en-US" sz="1600" dirty="0"/>
            </a:lvl2pPr>
            <a:lvl3pPr>
              <a:defRPr lang="en-US" sz="16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05E7CC6D-40F5-C58C-FC44-793B1A98AC5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3133" y="1438275"/>
            <a:ext cx="2533650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6B93ED5-5CA7-C983-373E-E42D7424C7C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073133" y="227647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/>
            </a:lvl1pPr>
            <a:lvl2pPr>
              <a:defRPr lang="en-US" sz="1600"/>
            </a:lvl2pPr>
            <a:lvl3pPr>
              <a:defRPr lang="en-US" sz="1600"/>
            </a:lvl3pPr>
            <a:lvl4pPr>
              <a:defRPr lang="en-US" sz="140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7652720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5100"/>
            <a:ext cx="11018838" cy="483393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9662A5-6E2F-47B0-9B6E-E87983D375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56515338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0" cy="2308324"/>
          </a:xfrm>
        </p:spPr>
        <p:txBody>
          <a:bodyPr wrap="square">
            <a:sp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477604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905">
          <p15:clr>
            <a:srgbClr val="5ACBF0"/>
          </p15:clr>
        </p15:guide>
        <p15:guide id="4" orient="horz" pos="1272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Bulle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39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48339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6A123D-3A27-499F-9210-3E0D7CED3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98402616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6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60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4200" y="1435100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E9CDCB4-03E1-4763-B83E-A1334BCDB0C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97171" y="1435100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70557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2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Bulle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D525736-DEE8-4391-8135-23DE0640053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8E90344-0294-48E2-AAF0-601BB99500E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084388"/>
            <a:ext cx="5219700" cy="1612749"/>
          </a:xfrm>
        </p:spPr>
        <p:txBody>
          <a:bodyPr>
            <a:spAutoFit/>
          </a:bodyPr>
          <a:lstStyle>
            <a:lvl1pPr marL="171450" indent="-171450">
              <a:defRPr lang="en-US" sz="2400" dirty="0"/>
            </a:lvl1pPr>
            <a:lvl2pPr marL="342900" indent="-171450">
              <a:defRPr lang="en-US" dirty="0"/>
            </a:lvl2pPr>
            <a:lvl3pPr marL="514350" indent="-171450">
              <a:defRPr lang="en-US" dirty="0"/>
            </a:lvl3pPr>
            <a:lvl4pPr marL="666750" indent="-152400">
              <a:defRPr lang="en-US" dirty="0"/>
            </a:lvl4pPr>
            <a:lvl5pPr marL="793750" indent="-120650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4F729D4-B1F1-45F2-A06A-40234B19C88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7625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F896FB-325C-4849-B372-8DF0D6C0562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97625" y="2084388"/>
            <a:ext cx="5219700" cy="1612749"/>
          </a:xfrm>
        </p:spPr>
        <p:txBody>
          <a:bodyPr>
            <a:spAutoFit/>
          </a:bodyPr>
          <a:lstStyle>
            <a:lvl1pPr marL="171450" indent="-171450">
              <a:defRPr lang="en-US" sz="2400" dirty="0"/>
            </a:lvl1pPr>
            <a:lvl2pPr marL="342900" indent="-171450">
              <a:defRPr lang="en-US" dirty="0"/>
            </a:lvl2pPr>
            <a:lvl3pPr marL="514350" indent="-171450">
              <a:defRPr lang="en-US" dirty="0"/>
            </a:lvl3pPr>
            <a:lvl4pPr marL="685800" indent="-136525">
              <a:defRPr lang="en-US" dirty="0"/>
            </a:lvl4pPr>
            <a:lvl5pPr marL="793750" indent="-120650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96989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Conten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C2759870-0BEA-44DC-A414-1C70D04E35C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BFEF95FA-F121-4653-B60A-0D068C34546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88963" y="2081212"/>
            <a:ext cx="5214937" cy="4187825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C327262A-D327-4189-AD22-BAD67CF4AB7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7625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Content Placeholder 14">
            <a:extLst>
              <a:ext uri="{FF2B5EF4-FFF2-40B4-BE49-F238E27FC236}">
                <a16:creationId xmlns:a16="http://schemas.microsoft.com/office/drawing/2014/main" id="{47F8EAA9-0E64-4589-A234-BC31685BE7D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94451" y="2081212"/>
            <a:ext cx="5214937" cy="4187825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ADFBB8-E1C1-D5AB-8154-CBA2D9EFB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7815760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60F77E-464D-46F7-A8F8-6F281DAB0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CB20F198-3776-433D-85A8-C2B6AC6235F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7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7BC59AA-6CF8-4091-8008-21AA9AD8E8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5217" y="239077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22263" indent="-150813">
              <a:defRPr lang="en-US" sz="1800" dirty="0"/>
            </a:lvl2pPr>
            <a:lvl3pPr marL="466725" indent="-138113">
              <a:defRPr lang="en-US" dirty="0"/>
            </a:lvl3pPr>
            <a:lvl4pPr marL="595313" indent="-128588">
              <a:defRPr lang="en-US" dirty="0"/>
            </a:lvl4pPr>
            <a:lvl5pPr marL="731838" indent="-1222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ECED387-BA3E-49B2-8F1E-0E371E09E0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463796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6B26A1CD-81F9-4C2F-896F-E69757C6658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463796" y="238413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98463" indent="-169863">
              <a:defRPr lang="en-US" sz="1800" dirty="0"/>
            </a:lvl2pPr>
            <a:lvl3pPr marL="555625" indent="-157163">
              <a:defRPr lang="en-US" dirty="0"/>
            </a:lvl3pPr>
            <a:lvl4pPr marL="685800" indent="-136525">
              <a:defRPr lang="en-US" dirty="0"/>
            </a:lvl4pPr>
            <a:lvl5pPr marL="800100" indent="-111125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9263A4B-A9A8-4CE5-96A8-6F6EC365E51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342375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05743D-F71A-4647-9BE4-2900BDA2582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42375" y="239077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98463" indent="-169863">
              <a:defRPr lang="en-US" sz="1800" dirty="0"/>
            </a:lvl2pPr>
            <a:lvl3pPr marL="555625" indent="-157163">
              <a:defRPr lang="en-US" dirty="0"/>
            </a:lvl3pPr>
            <a:lvl4pPr marL="685800" indent="-136525">
              <a:defRPr lang="en-US" dirty="0"/>
            </a:lvl4pPr>
            <a:lvl5pPr marL="800100" indent="-111125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0246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1506">
          <p15:clr>
            <a:srgbClr val="5ACBF0"/>
          </p15:clr>
        </p15:guide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430">
          <p15:clr>
            <a:srgbClr val="5ACBF0"/>
          </p15:clr>
        </p15:guide>
        <p15:guide id="7" pos="2832">
          <p15:clr>
            <a:srgbClr val="5ACBF0"/>
          </p15:clr>
        </p15:guide>
        <p15:guide id="8" pos="4871">
          <p15:clr>
            <a:srgbClr val="5ACBF0"/>
          </p15:clr>
        </p15:guide>
        <p15:guide id="9" pos="5251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92783506-927E-48F7-8EFC-36257F3E281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8275"/>
            <a:ext cx="2532063" cy="55399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800" b="1">
                <a:gradFill>
                  <a:gsLst>
                    <a:gs pos="0">
                      <a:srgbClr val="31ACBD"/>
                    </a:gs>
                    <a:gs pos="68000">
                      <a:schemeClr val="tx2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FB6093D3-3EDF-4A80-8450-C5EBB19907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38D2C80-6884-451D-8D7D-B69022CCC5C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125" y="1438275"/>
            <a:ext cx="2533650" cy="55399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800" b="1">
                <a:gradFill>
                  <a:gsLst>
                    <a:gs pos="100000">
                      <a:srgbClr val="3EA89B"/>
                    </a:gs>
                    <a:gs pos="0">
                      <a:srgbClr val="225B62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7614A884-0AD6-4A85-A432-2B13E7464D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13125" y="227647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7D8FFDED-9FE5-4D94-8EB0-7D645C10FBF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4208" y="1438275"/>
            <a:ext cx="2532063" cy="55399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800" b="1" dirty="0">
                <a:gradFill>
                  <a:gsLst>
                    <a:gs pos="0">
                      <a:srgbClr val="F4364C"/>
                    </a:gs>
                    <a:gs pos="68000">
                      <a:srgbClr val="C03BC4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429D954-9297-44FA-B7BD-5658601241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244208" y="228311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04D43B0D-50F8-4F63-AFA3-34A46F42E81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3133" y="1438275"/>
            <a:ext cx="2533650" cy="55399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800" b="1">
                <a:gradFill>
                  <a:gsLst>
                    <a:gs pos="0">
                      <a:srgbClr val="FF9318"/>
                    </a:gs>
                    <a:gs pos="44000">
                      <a:srgbClr val="FF5C39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804CEFDA-6A6F-42D3-B65C-4BE1054C905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073133" y="227647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501520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1436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92783506-927E-48F7-8EFC-36257F3E281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4200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FB6093D3-3EDF-4A80-8450-C5EBB19907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38D2C80-6884-451D-8D7D-B69022CCC5C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849007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7614A884-0AD6-4A85-A432-2B13E7464D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849007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7D8FFDED-9FE5-4D94-8EB0-7D645C10FBF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13814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429D954-9297-44FA-B7BD-5658601241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13814" y="228311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04D43B0D-50F8-4F63-AFA3-34A46F42E81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378621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804CEFDA-6A6F-42D3-B65C-4BE1054C905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378621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40485AC-5036-400C-92C3-D3E9EC0252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643428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F90290A2-7689-4DF5-971A-36C2D917341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43428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387365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610">
          <p15:clr>
            <a:srgbClr val="5ACBF0"/>
          </p15:clr>
        </p15:guide>
        <p15:guide id="7" pos="1795">
          <p15:clr>
            <a:srgbClr val="5ACBF0"/>
          </p15:clr>
        </p15:guide>
        <p15:guide id="8" pos="3035">
          <p15:clr>
            <a:srgbClr val="5ACBF0"/>
          </p15:clr>
        </p15:guide>
        <p15:guide id="9" pos="3221">
          <p15:clr>
            <a:srgbClr val="5ACBF0"/>
          </p15:clr>
        </p15:guide>
        <p15:guide id="10" pos="4461">
          <p15:clr>
            <a:srgbClr val="5ACBF0"/>
          </p15:clr>
        </p15:guide>
        <p15:guide id="11" pos="5890">
          <p15:clr>
            <a:srgbClr val="5ACBF0"/>
          </p15:clr>
        </p15:guide>
        <p15:guide id="12" orient="horz" pos="1436">
          <p15:clr>
            <a:srgbClr val="5ACBF0"/>
          </p15:clr>
        </p15:guide>
        <p15:guide id="13" pos="4646">
          <p15:clr>
            <a:srgbClr val="5ACBF0"/>
          </p15:clr>
        </p15:guide>
        <p15:guide id="14" pos="6072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537751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- left s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2875002"/>
            <a:ext cx="4127692" cy="1107996"/>
          </a:xfrm>
        </p:spPr>
        <p:txBody>
          <a:bodyPr wrap="square" anchor="ctr"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380103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30" orient="horz" pos="288">
          <p15:clr>
            <a:srgbClr val="5ACBF0"/>
          </p15:clr>
        </p15:guide>
        <p15:guide id="32" orient="horz" pos="2160">
          <p15:clr>
            <a:srgbClr val="5ACBF0"/>
          </p15:clr>
        </p15:guide>
        <p15:guide id="33" pos="2976">
          <p15:clr>
            <a:srgbClr val="5ACBF0"/>
          </p15:clr>
        </p15:guide>
        <p15:guide id="34" pos="3336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4B2500C4-B436-4E3A-8A91-A02448A77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457200"/>
            <a:ext cx="5508419" cy="372410"/>
          </a:xfrm>
        </p:spPr>
        <p:txBody>
          <a:bodyPr tIns="64008"/>
          <a:lstStyle>
            <a:lvl1pPr>
              <a:defRPr sz="2000" spc="0"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42657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52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  <p15:guide id="31" pos="3840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Square Phot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8963"/>
            <a:ext cx="4158362" cy="2535236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 dirty="0"/>
              <a:t>Title square photo layout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0" y="3535540"/>
            <a:ext cx="4162425" cy="2733497"/>
          </a:xfrm>
        </p:spPr>
        <p:txBody>
          <a:bodyPr/>
          <a:lstStyle>
            <a:lvl1pPr marL="0" indent="0">
              <a:buNone/>
              <a:defRPr sz="2200">
                <a:latin typeface="+mn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18FD0C-FA99-4937-92CD-5CF7F279CD8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blipFill>
            <a:blip r:embed="rId2"/>
            <a:stretch>
              <a:fillRect/>
            </a:stretch>
          </a:blip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BDF4B0-32EF-4DA8-9A83-B73DD8310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0807892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7" orient="horz" pos="1968">
          <p15:clr>
            <a:srgbClr val="5ACBF0"/>
          </p15:clr>
        </p15:guide>
        <p15:guide id="8" orient="horz" pos="2226">
          <p15:clr>
            <a:srgbClr val="5ACBF0"/>
          </p15:clr>
        </p15:guide>
        <p15:guide id="10" pos="3729">
          <p15:clr>
            <a:srgbClr val="C35EA4"/>
          </p15:clr>
        </p15:guide>
        <p15:guide id="11" pos="2993">
          <p15:clr>
            <a:srgbClr val="5ACBF0"/>
          </p15:clr>
        </p15:guide>
        <p15:guide id="12" pos="3543">
          <p15:clr>
            <a:srgbClr val="A4A3A4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quare Phot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B92DE97-5F35-4963-AC7A-96FEB9806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4159950" cy="5683249"/>
          </a:xfrm>
        </p:spPr>
        <p:txBody>
          <a:bodyPr anchor="ctr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blipFill>
            <a:blip r:embed="rId2"/>
            <a:stretch>
              <a:fillRect/>
            </a:stretch>
          </a:blip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09A47B-FEF5-47F3-B2DD-A73E7C3234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8488400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5" orient="horz" pos="2160">
          <p15:clr>
            <a:srgbClr val="5ACBF0"/>
          </p15:clr>
        </p15:guide>
        <p15:guide id="6" pos="2991">
          <p15:clr>
            <a:srgbClr val="5ACBF0"/>
          </p15:clr>
        </p15:guide>
        <p15:guide id="7" pos="3728">
          <p15:clr>
            <a:srgbClr val="C35EA4"/>
          </p15:clr>
        </p15:guide>
        <p15:guide id="8" pos="3544">
          <p15:clr>
            <a:srgbClr val="A4A3A4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quare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4E2C6C6-B442-4DE7-9C6C-405B900531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2979738"/>
            <a:ext cx="4163125" cy="3289300"/>
          </a:xfrm>
        </p:spPr>
        <p:txBody>
          <a:bodyPr anchor="t"/>
          <a:lstStyle>
            <a:lvl1pPr>
              <a:defRPr sz="2800"/>
            </a:lvl1pPr>
          </a:lstStyle>
          <a:p>
            <a:r>
              <a:rPr lang="en-US" dirty="0"/>
              <a:t>Square photo layout with smaller text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BEAA94-C151-43DE-8A5A-09E8A930427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gradFill flip="none" rotWithShape="1">
            <a:gsLst>
              <a:gs pos="47706">
                <a:schemeClr val="accent1"/>
              </a:gs>
              <a:gs pos="100000">
                <a:schemeClr val="accent3"/>
              </a:gs>
              <a:gs pos="60000">
                <a:schemeClr val="accent1"/>
              </a:gs>
            </a:gsLst>
            <a:lin ang="18900000" scaled="1"/>
            <a:tileRect/>
          </a:grad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2F1290-9237-4BEE-AAAC-6708F28626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6031375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3" orient="horz" pos="1877">
          <p15:clr>
            <a:srgbClr val="5ACBF0"/>
          </p15:clr>
        </p15:guide>
        <p15:guide id="4" pos="3731">
          <p15:clr>
            <a:srgbClr val="C35EA4"/>
          </p15:clr>
        </p15:guide>
        <p15:guide id="5" pos="2993">
          <p15:clr>
            <a:srgbClr val="5ACBF0"/>
          </p15:clr>
        </p15:guide>
        <p15:guide id="6" pos="3547">
          <p15:clr>
            <a:srgbClr val="A4A3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lower tit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/>
          </p:nvPr>
        </p:nvSpPr>
        <p:spPr bwMode="ltGray">
          <a:xfrm>
            <a:off x="0" y="3657600"/>
            <a:ext cx="12192000" cy="3200400"/>
          </a:xfrm>
          <a:gradFill flip="none" rotWithShape="1">
            <a:gsLst>
              <a:gs pos="4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</p:spPr>
        <p:txBody>
          <a:bodyPr lIns="585216" tIns="585216" rIns="585216" bIns="585216" anchor="b" anchorCtr="0">
            <a:noAutofit/>
          </a:bodyPr>
          <a:lstStyle>
            <a:lvl1pPr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09554D-CD2C-F836-9A2C-88CABE5765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7984628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304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lef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ltGray">
          <a:xfrm>
            <a:off x="-3" y="0"/>
            <a:ext cx="5669280" cy="6858000"/>
          </a:xfrm>
          <a:gradFill flip="none" rotWithShape="1">
            <a:gsLst>
              <a:gs pos="5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  <a:tileRect/>
          </a:gradFill>
        </p:spPr>
        <p:txBody>
          <a:bodyPr lIns="585216" tIns="585216" rIns="585216" bIns="585216" anchor="ctr">
            <a:noAutofit/>
          </a:bodyPr>
          <a:lstStyle>
            <a:lvl1pPr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4894F6-B50F-43E1-83FC-4F2200B2F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41941478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7" pos="3576">
          <p15:clr>
            <a:srgbClr val="5ACBF0"/>
          </p15:clr>
        </p15:guide>
        <p15:guide id="8" orient="horz" pos="2160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righ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ltGray">
          <a:xfrm>
            <a:off x="6522720" y="0"/>
            <a:ext cx="5669280" cy="6858000"/>
          </a:xfrm>
          <a:gradFill flip="none" rotWithShape="1">
            <a:gsLst>
              <a:gs pos="5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lIns="585216" tIns="585216" rIns="585216" bIns="585216" anchor="ctr">
            <a:noAutofit/>
          </a:bodyPr>
          <a:lstStyle>
            <a:lvl1pPr algn="r"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29011D-E3B4-416F-9D7F-7A99AE49F6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56252885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7" pos="4105">
          <p15:clr>
            <a:srgbClr val="5ACBF0"/>
          </p15:clr>
        </p15:guide>
        <p15:guide id="8" orient="horz" pos="2160">
          <p15:clr>
            <a:srgbClr val="5ACBF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157216"/>
            <a:ext cx="11018520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0" y="0"/>
            <a:ext cx="12192000" cy="4572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vert="horz" wrap="square" lIns="0" tIns="1280160" rIns="0" bIns="0" rtlCol="0" anchor="t" anchorCtr="0">
            <a:noAutofit/>
          </a:bodyPr>
          <a:lstStyle>
            <a:lvl1pPr marL="0" indent="0" algn="ctr">
              <a:buNone/>
              <a:defRPr lang="en-US" sz="1400" b="1" dirty="0">
                <a:solidFill>
                  <a:schemeClr val="bg1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996C37-D0C9-4349-A860-B639C4EB9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50765864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  <p15:guide id="6" orient="horz" pos="3600">
          <p15:clr>
            <a:srgbClr val="5ACBF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499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-2381" y="2286000"/>
            <a:ext cx="12192000" cy="4572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vert="horz" wrap="square" lIns="0" tIns="1371600" rIns="0" bIns="0" rtlCol="0" anchor="t" anchorCtr="0">
            <a:noAutofit/>
          </a:bodyPr>
          <a:lstStyle>
            <a:lvl1pPr marL="0" indent="0" algn="ctr">
              <a:buNone/>
              <a:defRPr lang="en-US" sz="1400" b="1" dirty="0">
                <a:solidFill>
                  <a:schemeClr val="bg1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FDE6F-0F4B-446A-A51F-494FB09966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68484399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>
          <p15:clr>
            <a:srgbClr val="5ACBF0"/>
          </p15:clr>
        </p15:guide>
        <p15:guide id="6" orient="horz" pos="720">
          <p15:clr>
            <a:srgbClr val="5ACBF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27DCA08-1117-4B11-AEFD-AAB2B3354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199" y="5689600"/>
            <a:ext cx="5367528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5367528" cy="3474720"/>
          </a:xfrm>
          <a:blipFill>
            <a:blip r:embed="rId2"/>
            <a:stretch>
              <a:fillRect/>
            </a:stretch>
          </a:blipFill>
        </p:spPr>
        <p:txBody>
          <a:bodyPr vert="horz" wrap="square" lIns="0" tIns="0" rIns="0" bIns="1005840" rtlCol="0" anchor="ctr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chemeClr val="bg1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689600"/>
            <a:ext cx="5367528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239255" y="2025650"/>
            <a:ext cx="5367528" cy="3474720"/>
          </a:xfrm>
          <a:blipFill>
            <a:blip r:embed="rId3"/>
            <a:stretch>
              <a:fillRect/>
            </a:stretch>
          </a:blipFill>
        </p:spPr>
        <p:txBody>
          <a:bodyPr vert="horz" wrap="square" lIns="0" tIns="0" rIns="0" bIns="1005840" rtlCol="0" anchor="ctr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000000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F59E09-7602-42B9-AB0C-9D1365A9EB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7817557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584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312">
          <p15:clr>
            <a:srgbClr val="5ACBF0"/>
          </p15:clr>
        </p15:guide>
        <p15:guide id="6" pos="3749">
          <p15:clr>
            <a:srgbClr val="5ACBF0"/>
          </p15:clr>
        </p15:guide>
        <p15:guide id="7" pos="3931">
          <p15:clr>
            <a:srgbClr val="5ACBF0"/>
          </p15:clr>
        </p15:guide>
        <p15:guide id="8" orient="horz" pos="3464">
          <p15:clr>
            <a:srgbClr val="5ACBF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60F77E-464D-46F7-A8F8-6F281DAB0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3474720" cy="3474720"/>
          </a:xfrm>
          <a:blipFill>
            <a:blip r:embed="rId2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4358640" y="2025650"/>
            <a:ext cx="3474720" cy="3474720"/>
          </a:xfrm>
          <a:blipFill>
            <a:blip r:embed="rId3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8132063" y="2025650"/>
            <a:ext cx="3474720" cy="3474720"/>
          </a:xfrm>
          <a:blipFill>
            <a:blip r:embed="rId4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B36921-D927-4BA6-8891-8AEE97849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1669846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584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3465">
          <p15:clr>
            <a:srgbClr val="5ACBF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2532888" cy="2532888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3413908" y="2025650"/>
            <a:ext cx="2532888" cy="2532888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245204" y="2025650"/>
            <a:ext cx="2532888" cy="2532888"/>
          </a:xfrm>
          <a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9073895" y="2025650"/>
            <a:ext cx="2532888" cy="2532888"/>
          </a:xfr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F56B00-AAD4-4F4F-8228-B6CF8367DE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93372854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2993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2870">
          <p15:clr>
            <a:srgbClr val="5ACBF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5334000"/>
            <a:ext cx="4892040" cy="9350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6062472" cy="2807208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14744" y="5334000"/>
            <a:ext cx="4892040" cy="938212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6129528" y="2286000"/>
            <a:ext cx="6062472" cy="2807208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AE597A-BE1E-6B1F-960D-A90DC95443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9988901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4" orient="horz" pos="3209">
          <p15:clr>
            <a:srgbClr val="5ACBF0"/>
          </p15:clr>
        </p15:guide>
        <p15:guide id="5" pos="3826">
          <p15:clr>
            <a:srgbClr val="5ACBF0"/>
          </p15:clr>
        </p15:guide>
        <p15:guide id="6" pos="3859">
          <p15:clr>
            <a:srgbClr val="5ACBF0"/>
          </p15:clr>
        </p15:guide>
        <p15:guide id="11" pos="1910">
          <p15:clr>
            <a:srgbClr val="5ACBF0"/>
          </p15:clr>
        </p15:guide>
        <p15:guide id="12" pos="5770">
          <p15:clr>
            <a:srgbClr val="5ACBF0"/>
          </p15:clr>
        </p15:guide>
        <p15:guide id="13" orient="horz" pos="3360">
          <p15:clr>
            <a:srgbClr val="5ACBF0"/>
          </p15:clr>
        </p15:guide>
        <p15:guide id="14" orient="horz">
          <p15:clr>
            <a:srgbClr val="5ACBF0"/>
          </p15:clr>
        </p15:guide>
        <p15:guide id="15" pos="3451">
          <p15:clr>
            <a:srgbClr val="5ACBF0"/>
          </p15:clr>
        </p15:guide>
        <p15:guide id="16" pos="4229">
          <p15:clr>
            <a:srgbClr val="5ACBF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4800600"/>
            <a:ext cx="2852928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4023360" cy="2286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69536" y="4799409"/>
            <a:ext cx="2852928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4084320" y="2286000"/>
            <a:ext cx="4023360" cy="2286000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53856" y="4799410"/>
            <a:ext cx="2852928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8168640" y="2286000"/>
            <a:ext cx="4023360" cy="2286000"/>
          </a:xfr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B999C7-F5A8-46A6-92C5-AA3BE4E26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616847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5" pos="2534">
          <p15:clr>
            <a:srgbClr val="5ACBF0"/>
          </p15:clr>
        </p15:guide>
        <p15:guide id="6" pos="2573">
          <p15:clr>
            <a:srgbClr val="5ACBF0"/>
          </p15:clr>
        </p15:guide>
        <p15:guide id="8" pos="5109">
          <p15:clr>
            <a:srgbClr val="5ACBF0"/>
          </p15:clr>
        </p15:guide>
        <p15:guide id="9" pos="5145">
          <p15:clr>
            <a:srgbClr val="5ACBF0"/>
          </p15:clr>
        </p15:guide>
        <p15:guide id="11" pos="1266">
          <p15:clr>
            <a:srgbClr val="5ACBF0"/>
          </p15:clr>
        </p15:guide>
        <p15:guide id="12" pos="3840">
          <p15:clr>
            <a:srgbClr val="5ACBF0"/>
          </p15:clr>
        </p15:guide>
        <p15:guide id="13" pos="6414">
          <p15:clr>
            <a:srgbClr val="5ACBF0"/>
          </p15:clr>
        </p15:guide>
        <p15:guide id="14" orient="horz" pos="1074">
          <p15:clr>
            <a:srgbClr val="5ACBF0"/>
          </p15:clr>
        </p15:guide>
        <p15:guide id="15" pos="2168">
          <p15:clr>
            <a:srgbClr val="5ACBF0"/>
          </p15:clr>
        </p15:guide>
        <p15:guide id="16" pos="2944">
          <p15:clr>
            <a:srgbClr val="5ACBF0"/>
          </p15:clr>
        </p15:guide>
        <p15:guide id="17" pos="4738">
          <p15:clr>
            <a:srgbClr val="5ACBF0"/>
          </p15:clr>
        </p15:guide>
        <p15:guide id="18" pos="5514">
          <p15:clr>
            <a:srgbClr val="5ACBF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4800600"/>
            <a:ext cx="1828800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2999232" cy="2286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649472" y="4799409"/>
            <a:ext cx="1828800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3064256" y="2286000"/>
            <a:ext cx="2999232" cy="2286000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13728" y="4799410"/>
            <a:ext cx="1828800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128512" y="2286000"/>
            <a:ext cx="2999232" cy="2286000"/>
          </a:xfr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3564109-638C-44E2-AE84-46B44C29FD6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777984" y="4799409"/>
            <a:ext cx="1828800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13AAE36-2045-4D14-87DC-59D4EFCC150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9192768" y="2286000"/>
            <a:ext cx="2999232" cy="2286000"/>
          </a:xfr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E569B-F817-467C-8BAC-558CE9824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56963693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5" pos="1890">
          <p15:clr>
            <a:srgbClr val="5ACBF0"/>
          </p15:clr>
        </p15:guide>
        <p15:guide id="6" pos="1930">
          <p15:clr>
            <a:srgbClr val="5ACBF0"/>
          </p15:clr>
        </p15:guide>
        <p15:guide id="7" pos="5749">
          <p15:clr>
            <a:srgbClr val="5ACBF0"/>
          </p15:clr>
        </p15:guide>
        <p15:guide id="8" pos="3820">
          <p15:clr>
            <a:srgbClr val="5ACBF0"/>
          </p15:clr>
        </p15:guide>
        <p15:guide id="9" pos="3860">
          <p15:clr>
            <a:srgbClr val="5ACBF0"/>
          </p15:clr>
        </p15:guide>
        <p15:guide id="10" pos="5789">
          <p15:clr>
            <a:srgbClr val="5ACBF0"/>
          </p15:clr>
        </p15:guide>
        <p15:guide id="11" pos="944">
          <p15:clr>
            <a:srgbClr val="5ACBF0"/>
          </p15:clr>
        </p15:guide>
        <p15:guide id="12" pos="2876">
          <p15:clr>
            <a:srgbClr val="5ACBF0"/>
          </p15:clr>
        </p15:guide>
        <p15:guide id="13" pos="4807">
          <p15:clr>
            <a:srgbClr val="5ACBF0"/>
          </p15:clr>
        </p15:guide>
        <p15:guide id="14" pos="6736">
          <p15:clr>
            <a:srgbClr val="5ACBF0"/>
          </p15:clr>
        </p15:guide>
        <p15:guide id="15" orient="horz">
          <p15:clr>
            <a:srgbClr val="5ACBF0"/>
          </p15:clr>
        </p15:guide>
        <p15:guide id="16" pos="1524">
          <p15:clr>
            <a:srgbClr val="5ACBF0"/>
          </p15:clr>
        </p15:guide>
        <p15:guide id="17" pos="2298">
          <p15:clr>
            <a:srgbClr val="5ACBF0"/>
          </p15:clr>
        </p15:guide>
        <p15:guide id="18" pos="3450">
          <p15:clr>
            <a:srgbClr val="5ACBF0"/>
          </p15:clr>
        </p15:guide>
        <p15:guide id="19" pos="4230">
          <p15:clr>
            <a:srgbClr val="5ACBF0"/>
          </p15:clr>
        </p15:guide>
        <p15:guide id="20" pos="5380">
          <p15:clr>
            <a:srgbClr val="5ACBF0"/>
          </p15:clr>
        </p15:guide>
        <p15:guide id="21" pos="6156">
          <p15:clr>
            <a:srgbClr val="5ACBF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92608" y="4800600"/>
            <a:ext cx="1801368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2386584" cy="2286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743962" y="4799409"/>
            <a:ext cx="1801368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2451354" y="2286000"/>
            <a:ext cx="2386584" cy="2286000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95316" y="4799410"/>
            <a:ext cx="1801368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4902708" y="2286000"/>
            <a:ext cx="2386584" cy="2286000"/>
          </a:xfr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3564109-638C-44E2-AE84-46B44C29FD6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646670" y="4799409"/>
            <a:ext cx="1801368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13AAE36-2045-4D14-87DC-59D4EFCC150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7354062" y="2286000"/>
            <a:ext cx="2386584" cy="2286000"/>
          </a:xfr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5B1B6F72-F14C-40F1-8B29-8620AA34DC6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0098024" y="4799409"/>
            <a:ext cx="1801368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D682C7-20D7-4ED0-99A7-C8530DAC8612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ltGray">
          <a:xfrm>
            <a:off x="9805416" y="2286000"/>
            <a:ext cx="2386584" cy="2286000"/>
          </a:xfrm>
          <a:gradFill>
            <a:gsLst>
              <a:gs pos="0">
                <a:srgbClr val="E8E6DF"/>
              </a:gs>
              <a:gs pos="100000">
                <a:srgbClr val="D4EC8E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E569B-F817-467C-8BAC-558CE9824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90742529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8" pos="4631">
          <p15:clr>
            <a:srgbClr val="5ACBF0"/>
          </p15:clr>
        </p15:guide>
        <p15:guide id="9" pos="4593">
          <p15:clr>
            <a:srgbClr val="5ACBF0"/>
          </p15:clr>
        </p15:guide>
        <p15:guide id="10" pos="6134">
          <p15:clr>
            <a:srgbClr val="5ACBF0"/>
          </p15:clr>
        </p15:guide>
        <p15:guide id="11" pos="1323">
          <p15:clr>
            <a:srgbClr val="5ACBF0"/>
          </p15:clr>
        </p15:guide>
        <p15:guide id="12" pos="2865">
          <p15:clr>
            <a:srgbClr val="5ACBF0"/>
          </p15:clr>
        </p15:guide>
        <p15:guide id="13" pos="4815">
          <p15:clr>
            <a:srgbClr val="5ACBF0"/>
          </p15:clr>
        </p15:guide>
        <p15:guide id="14" pos="6361">
          <p15:clr>
            <a:srgbClr val="5ACBF0"/>
          </p15:clr>
        </p15:guide>
        <p15:guide id="15" orient="horz">
          <p15:clr>
            <a:srgbClr val="5ACBF0"/>
          </p15:clr>
        </p15:guide>
        <p15:guide id="16" pos="1727">
          <p15:clr>
            <a:srgbClr val="5ACBF0"/>
          </p15:clr>
        </p15:guide>
        <p15:guide id="17" pos="2294">
          <p15:clr>
            <a:srgbClr val="5ACBF0"/>
          </p15:clr>
        </p15:guide>
        <p15:guide id="18" pos="3273">
          <p15:clr>
            <a:srgbClr val="5ACBF0"/>
          </p15:clr>
        </p15:guide>
        <p15:guide id="19" pos="4411">
          <p15:clr>
            <a:srgbClr val="5ACBF0"/>
          </p15:clr>
        </p15:guide>
        <p15:guide id="21" pos="6179">
          <p15:clr>
            <a:srgbClr val="5ACBF0"/>
          </p15:clr>
        </p15:guide>
        <p15:guide id="22" pos="1501">
          <p15:clr>
            <a:srgbClr val="5ACBF0"/>
          </p15:clr>
        </p15:guide>
        <p15:guide id="23" pos="1543">
          <p15:clr>
            <a:srgbClr val="5ACBF0"/>
          </p15:clr>
        </p15:guide>
        <p15:guide id="24" pos="3049">
          <p15:clr>
            <a:srgbClr val="5ACBF0"/>
          </p15:clr>
        </p15:guide>
        <p15:guide id="25" pos="3088">
          <p15:clr>
            <a:srgbClr val="5ACBF0"/>
          </p15:clr>
        </p15:guide>
        <p15:guide id="26" pos="5954">
          <p15:clr>
            <a:srgbClr val="5ACBF0"/>
          </p15:clr>
        </p15:guide>
        <p15:guide id="27" pos="3840">
          <p15:clr>
            <a:srgbClr val="5ACBF0"/>
          </p15:clr>
        </p15:guide>
        <p15:guide id="28" pos="5386">
          <p15:clr>
            <a:srgbClr val="5ACBF0"/>
          </p15:clr>
        </p15:guide>
        <p15:guide id="29" pos="753">
          <p15:clr>
            <a:srgbClr val="5ACBF0"/>
          </p15:clr>
        </p15:guide>
        <p15:guide id="30" pos="6927">
          <p15:clr>
            <a:srgbClr val="5ACBF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8962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2037906" y="2286000"/>
            <a:ext cx="2313432" cy="2313432"/>
          </a:xfrm>
          <a:prstGeom prst="ellipse">
            <a:avLst/>
          </a:prstGeo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037906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4939284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939284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7840663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840663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6AFB7A-35B4-4881-AB50-D112482166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65154352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3024">
          <p15:clr>
            <a:srgbClr val="5ACBF0"/>
          </p15:clr>
        </p15:guide>
        <p15:guide id="3" pos="3840">
          <p15:clr>
            <a:srgbClr val="5ACBF0"/>
          </p15:clr>
        </p15:guide>
        <p15:guide id="4" pos="1283">
          <p15:clr>
            <a:srgbClr val="5ACBF0"/>
          </p15:clr>
        </p15:guide>
        <p15:guide id="5" pos="5666">
          <p15:clr>
            <a:srgbClr val="5ACBF0"/>
          </p15:clr>
        </p15:guide>
        <p15:guide id="6" pos="2741">
          <p15:clr>
            <a:srgbClr val="5ACBF0"/>
          </p15:clr>
        </p15:guide>
        <p15:guide id="7" pos="2012">
          <p15:clr>
            <a:srgbClr val="5ACBF0"/>
          </p15:clr>
        </p15:guide>
        <p15:guide id="8" pos="3109">
          <p15:clr>
            <a:srgbClr val="5ACBF0"/>
          </p15:clr>
        </p15:guide>
        <p15:guide id="9" pos="4570">
          <p15:clr>
            <a:srgbClr val="5ACBF0"/>
          </p15:clr>
        </p15:guide>
        <p15:guide id="11" pos="6397">
          <p15:clr>
            <a:srgbClr val="5ACBF0"/>
          </p15:clr>
        </p15:guide>
        <p15:guide id="12" orient="horz" pos="1440">
          <p15:clr>
            <a:srgbClr val="5ACBF0"/>
          </p15:clr>
        </p15:guide>
        <p15:guide id="13" pos="4938">
          <p15:clr>
            <a:srgbClr val="5ACBF0"/>
          </p15:clr>
        </p15:guide>
        <p15:guide id="14" orient="horz" pos="2894">
          <p15:clr>
            <a:srgbClr val="5ACBF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300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584200" y="2286000"/>
            <a:ext cx="2313432" cy="2313432"/>
          </a:xfrm>
          <a:prstGeom prst="ellipse">
            <a:avLst/>
          </a:prstGeo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3487250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8725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6390300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9030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78E1D3B-7D6F-4EFD-9EB2-E1A27309D6AF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 bwMode="ltGray">
          <a:xfrm>
            <a:off x="9293351" y="2286000"/>
            <a:ext cx="2313432" cy="2313432"/>
          </a:xfrm>
          <a:prstGeom prst="ellipse">
            <a:avLst/>
          </a:prstGeo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BB2FF62-05DC-462E-808C-4DDE1C65392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293351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72D6D-004C-4F57-AD34-F1019A756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21046650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3024">
          <p15:clr>
            <a:srgbClr val="5ACBF0"/>
          </p15:clr>
        </p15:guide>
        <p15:guide id="3" pos="4025">
          <p15:clr>
            <a:srgbClr val="5ACBF0"/>
          </p15:clr>
        </p15:guide>
        <p15:guide id="5" pos="5854">
          <p15:clr>
            <a:srgbClr val="5ACBF0"/>
          </p15:clr>
        </p15:guide>
        <p15:guide id="7" pos="3654">
          <p15:clr>
            <a:srgbClr val="5ACBF0"/>
          </p15:clr>
        </p15:guide>
        <p15:guide id="8" pos="2195">
          <p15:clr>
            <a:srgbClr val="5ACBF0"/>
          </p15:clr>
        </p15:guide>
        <p15:guide id="10" pos="2926">
          <p15:clr>
            <a:srgbClr val="5ACBF0"/>
          </p15:clr>
        </p15:guide>
        <p15:guide id="11" pos="4756">
          <p15:clr>
            <a:srgbClr val="5ACBF0"/>
          </p15:clr>
        </p15:guide>
        <p15:guide id="12" pos="6581">
          <p15:clr>
            <a:srgbClr val="5ACBF0"/>
          </p15:clr>
        </p15:guide>
        <p15:guide id="13" pos="1097">
          <p15:clr>
            <a:srgbClr val="5ACBF0"/>
          </p15:clr>
        </p15:guide>
        <p15:guide id="14" orient="horz" pos="1440">
          <p15:clr>
            <a:srgbClr val="5ACBF0"/>
          </p15:clr>
        </p15:guide>
        <p15:guide id="15" pos="1826">
          <p15:clr>
            <a:srgbClr val="5ACBF0"/>
          </p15:clr>
        </p15:guide>
        <p15:guide id="18" pos="5483">
          <p15:clr>
            <a:srgbClr val="5ACBF0"/>
          </p15:clr>
        </p15:guide>
        <p15:guide id="19" orient="horz" pos="2898">
          <p15:clr>
            <a:srgbClr val="5ACBF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300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584200" y="2286000"/>
            <a:ext cx="1737360" cy="1737360"/>
          </a:xfrm>
          <a:prstGeom prst="ellipse">
            <a:avLst/>
          </a:prstGeo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2905506" y="2286000"/>
            <a:ext cx="1737360" cy="1737360"/>
          </a:xfrm>
          <a:prstGeom prst="ellipse">
            <a:avLst/>
          </a:prstGeo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905506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5227320" y="2286000"/>
            <a:ext cx="1737360" cy="1737360"/>
          </a:xfrm>
          <a:prstGeom prst="ellipse">
            <a:avLst/>
          </a:prstGeo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27320" y="4235451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78E1D3B-7D6F-4EFD-9EB2-E1A27309D6AF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 bwMode="ltGray">
          <a:xfrm>
            <a:off x="7548118" y="2286000"/>
            <a:ext cx="1737360" cy="1737360"/>
          </a:xfrm>
          <a:prstGeom prst="ellipse">
            <a:avLst/>
          </a:prstGeo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insert44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BB2FF62-05DC-462E-808C-4DDE1C65392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548118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4DC3400-0B11-4EA0-9B8D-6FADE6964F37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 bwMode="ltGray">
          <a:xfrm>
            <a:off x="9869423" y="2286000"/>
            <a:ext cx="1737360" cy="1737360"/>
          </a:xfrm>
          <a:prstGeom prst="ellipse">
            <a:avLst/>
          </a:prstGeom>
          <a:gradFill>
            <a:gsLst>
              <a:gs pos="0">
                <a:srgbClr val="E8E6DF"/>
              </a:gs>
              <a:gs pos="100000">
                <a:srgbClr val="D4EC8E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133C357E-ECC0-485F-9033-5D4DEC8774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869423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72D6D-004C-4F57-AD34-F1019A756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1598959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2664">
          <p15:clr>
            <a:srgbClr val="5ACBF0"/>
          </p15:clr>
        </p15:guide>
        <p15:guide id="3" pos="6216">
          <p15:clr>
            <a:srgbClr val="5ACBF0"/>
          </p15:clr>
        </p15:guide>
        <p15:guide id="5" pos="5850">
          <p15:clr>
            <a:srgbClr val="5ACBF0"/>
          </p15:clr>
        </p15:guide>
        <p15:guide id="7" pos="4392">
          <p15:clr>
            <a:srgbClr val="5ACBF0"/>
          </p15:clr>
        </p15:guide>
        <p15:guide id="8" pos="3292">
          <p15:clr>
            <a:srgbClr val="5ACBF0"/>
          </p15:clr>
        </p15:guide>
        <p15:guide id="10" pos="2926">
          <p15:clr>
            <a:srgbClr val="5ACBF0"/>
          </p15:clr>
        </p15:guide>
        <p15:guide id="11" pos="4754">
          <p15:clr>
            <a:srgbClr val="5ACBF0"/>
          </p15:clr>
        </p15:guide>
        <p15:guide id="13" pos="1464">
          <p15:clr>
            <a:srgbClr val="5ACBF0"/>
          </p15:clr>
        </p15:guide>
        <p15:guide id="14" orient="horz" pos="1440">
          <p15:clr>
            <a:srgbClr val="5ACBF0"/>
          </p15:clr>
        </p15:guide>
        <p15:guide id="15" pos="1830">
          <p15:clr>
            <a:srgbClr val="5ACBF0"/>
          </p15:clr>
        </p15:guide>
        <p15:guide id="16" orient="horz" pos="2533">
          <p15:clr>
            <a:srgbClr val="5ACBF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 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216" y="2309811"/>
            <a:ext cx="3182027" cy="3959217"/>
          </a:xfrm>
        </p:spPr>
        <p:txBody>
          <a:bodyPr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7E9DBFD9-3E1E-4F19-AF15-56780F9C792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356100" y="2309812"/>
            <a:ext cx="7253288" cy="3959223"/>
          </a:xfrm>
        </p:spPr>
        <p:txBody>
          <a:bodyPr anchor="t"/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85216" y="2019300"/>
            <a:ext cx="3182112" cy="0"/>
          </a:xfrm>
          <a:prstGeom prst="line">
            <a:avLst/>
          </a:prstGeom>
          <a:ln w="28575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9D8AF80-CAD5-4055-80AD-0B31EBCB52A9}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F1A9F7D-F14E-4BCE-9EB4-D9EF47B678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54523" y="2019300"/>
            <a:ext cx="7254865" cy="0"/>
          </a:xfrm>
          <a:prstGeom prst="line">
            <a:avLst/>
          </a:prstGeom>
          <a:ln w="19050">
            <a:solidFill>
              <a:schemeClr val="tx1">
                <a:alpha val="3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922601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1272">
          <p15:clr>
            <a:srgbClr val="5ACBF0"/>
          </p15:clr>
        </p15:guide>
        <p15:guide id="30" pos="2376">
          <p15:clr>
            <a:srgbClr val="5ACBF0"/>
          </p15:clr>
        </p15:guide>
        <p15:guide id="32" orient="horz" pos="1455">
          <p15:clr>
            <a:srgbClr val="5ACBF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8"/>
            <a:ext cx="3182027" cy="568325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585788"/>
            <a:ext cx="6667500" cy="5683249"/>
          </a:xfrm>
        </p:spPr>
        <p:txBody>
          <a:bodyPr anchor="ctr"/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356100" y="2578100"/>
            <a:ext cx="0" cy="1701800"/>
          </a:xfrm>
          <a:prstGeom prst="line">
            <a:avLst/>
          </a:prstGeom>
          <a:ln w="28575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6480003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veloper Code Layou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636FE-845C-418D-82A1-1DA6DB73D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2D46E0-16CE-40B0-8623-F82D5D410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1436688"/>
            <a:ext cx="12192000" cy="542131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44977AB6-1D7E-4858-A2EA-BF86577C399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1436688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3" y="2099310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53" indent="0">
              <a:buNone/>
              <a:tabLst>
                <a:tab pos="344488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07" indent="0">
              <a:buNone/>
              <a:tabLst>
                <a:tab pos="569913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563" indent="0">
              <a:buNone/>
              <a:tabLst>
                <a:tab pos="800100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997" indent="0">
              <a:buNone/>
              <a:tabLst>
                <a:tab pos="1028700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6189093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1322">
          <p15:clr>
            <a:srgbClr val="5ACBF0"/>
          </p15:clr>
        </p15:guide>
        <p15:guide id="2" orient="horz" pos="905">
          <p15:clr>
            <a:srgbClr val="5ACBF0"/>
          </p15:clr>
        </p15:guide>
        <p15:guide id="3" orient="horz" pos="288">
          <p15:clr>
            <a:srgbClr val="5ACBF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Bottom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1845FFD-6B9A-4013-932A-5E4D7E849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B17F8BB-3610-1A4F-9E76-B12E706A55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6390" y="1230681"/>
            <a:ext cx="11018520" cy="369332"/>
          </a:xfrm>
        </p:spPr>
        <p:txBody>
          <a:bodyPr wrap="square">
            <a:spAutoFit/>
          </a:bodyPr>
          <a:lstStyle>
            <a:lvl1pPr marL="0" indent="0">
              <a:spcBef>
                <a:spcPts val="600"/>
              </a:spcBef>
              <a:spcAft>
                <a:spcPts val="0"/>
              </a:spcAft>
              <a:buNone/>
              <a:defRPr sz="240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228531" indent="0">
              <a:buNone/>
              <a:defRPr sz="240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EBE70E-6A93-4EB4-A189-6F9DE42CE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2827138"/>
            <a:ext cx="12192000" cy="403086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E9A2E28-037B-FA4D-ADDC-1AFA11D65C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2827138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6389" y="3491219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</p:spTree>
    <p:extLst>
      <p:ext uri="{BB962C8B-B14F-4D97-AF65-F5344CB8AC3E}">
        <p14:creationId xmlns:p14="http://schemas.microsoft.com/office/powerpoint/2010/main" val="3595878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4" orient="horz" pos="1776">
          <p15:clr>
            <a:srgbClr val="5ACBF0"/>
          </p15:clr>
        </p15:guide>
        <p15:guide id="5" orient="horz" pos="2197">
          <p15:clr>
            <a:srgbClr val="5ACBF0"/>
          </p15:clr>
        </p15:guide>
        <p15:guide id="6" orient="horz" pos="773">
          <p15:clr>
            <a:srgbClr val="5ACBF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Top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1EBE70E-6A93-4EB4-A189-6F9DE42CE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0"/>
            <a:ext cx="12192000" cy="403086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1845FFD-6B9A-4013-932A-5E4D7E849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224580"/>
            <a:ext cx="11018520" cy="492443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E9A2E28-037B-FA4D-ADDC-1AFA11D65C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6389" y="660508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B17F8BB-3610-1A4F-9E76-B12E706A55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1152" y="4996505"/>
            <a:ext cx="11018520" cy="369332"/>
          </a:xfrm>
        </p:spPr>
        <p:txBody>
          <a:bodyPr wrap="square">
            <a:spAutoFit/>
          </a:bodyPr>
          <a:lstStyle>
            <a:lvl1pPr marL="0" indent="0">
              <a:spcBef>
                <a:spcPts val="600"/>
              </a:spcBef>
              <a:spcAft>
                <a:spcPts val="0"/>
              </a:spcAft>
              <a:buNone/>
              <a:defRPr sz="240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228531" indent="0">
              <a:buNone/>
              <a:defRPr sz="240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6310263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4" orient="horz" pos="2661">
          <p15:clr>
            <a:srgbClr val="5ACBF0"/>
          </p15:clr>
        </p15:guide>
        <p15:guide id="5" orient="horz" pos="3147">
          <p15:clr>
            <a:srgbClr val="5ACBF0"/>
          </p15:clr>
        </p15:guide>
        <p15:guide id="6" orient="horz" pos="419">
          <p15:clr>
            <a:srgbClr val="5ACBF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Right s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2BB27-7DA5-4478-8C18-C1FFEE20AA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457200"/>
            <a:ext cx="4040887" cy="492443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BB818A5-4223-0847-B6E2-655C7DC7B6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8965" y="1338139"/>
            <a:ext cx="4040185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  <a:defRPr sz="2400" b="0" i="0" baseline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60"/>
              </a:spcBef>
              <a:spcAft>
                <a:spcPts val="60"/>
              </a:spcAft>
              <a:buNone/>
              <a:defRPr sz="2400" b="0" i="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316165A-5926-4F59-B348-996936FBB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5205984" y="0"/>
            <a:ext cx="6986016" cy="6858000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0D599919-A8E3-4D2B-86CF-50C6704F17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11763" y="0"/>
            <a:ext cx="3788358" cy="492314"/>
          </a:xfrm>
          <a:gradFill flip="none" rotWithShape="1">
            <a:gsLst>
              <a:gs pos="0">
                <a:srgbClr val="000000"/>
              </a:gs>
              <a:gs pos="99000">
                <a:srgbClr val="000000"/>
              </a:gs>
              <a:gs pos="99000">
                <a:schemeClr val="accent1"/>
              </a:gs>
            </a:gsLst>
            <a:lin ang="10800000" scaled="1"/>
            <a:tileRect/>
          </a:gradFill>
        </p:spPr>
        <p:txBody>
          <a:bodyPr lIns="585216" tIns="91440" bIns="9144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00725" y="709187"/>
            <a:ext cx="5801961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2F2F2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</p:spTree>
    <p:extLst>
      <p:ext uri="{BB962C8B-B14F-4D97-AF65-F5344CB8AC3E}">
        <p14:creationId xmlns:p14="http://schemas.microsoft.com/office/powerpoint/2010/main" val="3481096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445">
          <p15:clr>
            <a:srgbClr val="5ACBF0"/>
          </p15:clr>
        </p15:guide>
        <p15:guide id="4" orient="horz" pos="843">
          <p15:clr>
            <a:srgbClr val="5ACBF0"/>
          </p15:clr>
        </p15:guide>
        <p15:guide id="7" pos="3283">
          <p15:clr>
            <a:srgbClr val="5ACBF0"/>
          </p15:clr>
        </p15:guide>
        <p15:guide id="8" pos="3654">
          <p15:clr>
            <a:srgbClr val="5ACBF0"/>
          </p15:clr>
        </p15:guide>
        <p15:guide id="9" pos="2916">
          <p15:clr>
            <a:srgbClr val="5ACBF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Left s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316165A-5926-4F59-B348-996936FBB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-2" y="0"/>
            <a:ext cx="6986016" cy="6858000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B14A7D-C409-4A7C-9D82-A2E5DBB8AB7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5549" y="457200"/>
            <a:ext cx="4031233" cy="492443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0D599919-A8E3-4D2B-86CF-50C6704F17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-1" y="0"/>
            <a:ext cx="3788358" cy="492314"/>
          </a:xfrm>
          <a:gradFill flip="none" rotWithShape="1">
            <a:gsLst>
              <a:gs pos="0">
                <a:srgbClr val="000000"/>
              </a:gs>
              <a:gs pos="99000">
                <a:srgbClr val="000000"/>
              </a:gs>
              <a:gs pos="99000">
                <a:schemeClr val="accent1"/>
              </a:gs>
            </a:gsLst>
            <a:lin ang="10800000" scaled="1"/>
            <a:tileRect/>
          </a:gradFill>
        </p:spPr>
        <p:txBody>
          <a:bodyPr lIns="585216" tIns="91440" bIns="9144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199" y="706011"/>
            <a:ext cx="5819775" cy="369332"/>
          </a:xfrm>
        </p:spPr>
        <p:txBody>
          <a:bodyPr/>
          <a:lstStyle>
            <a:lvl1pPr marL="0" indent="0">
              <a:buNone/>
              <a:defRPr sz="2400">
                <a:solidFill>
                  <a:srgbClr val="2F2F2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BB818A5-4223-0847-B6E2-655C7DC7B6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75550" y="1336675"/>
            <a:ext cx="4033838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  <a:defRPr sz="2400" b="0" i="0" baseline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60"/>
              </a:spcBef>
              <a:spcAft>
                <a:spcPts val="60"/>
              </a:spcAft>
              <a:buNone/>
              <a:defRPr sz="2400" b="0" i="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28546783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436">
          <p15:clr>
            <a:srgbClr val="5ACBF0"/>
          </p15:clr>
        </p15:guide>
        <p15:guide id="4" orient="horz" pos="839">
          <p15:clr>
            <a:srgbClr val="5ACBF0"/>
          </p15:clr>
        </p15:guide>
        <p15:guide id="6" pos="4402">
          <p15:clr>
            <a:srgbClr val="5ACBF0"/>
          </p15:clr>
        </p15:guide>
        <p15:guide id="7" pos="4034">
          <p15:clr>
            <a:srgbClr val="5ACBF0"/>
          </p15:clr>
        </p15:guide>
        <p15:guide id="8" pos="4772">
          <p15:clr>
            <a:srgbClr val="5ACBF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77823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dirty="0"/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977319"/>
            <a:ext cx="9144000" cy="246221"/>
          </a:xfrm>
          <a:noFill/>
        </p:spPr>
        <p:txBody>
          <a:bodyPr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</p:spTree>
    <p:extLst>
      <p:ext uri="{BB962C8B-B14F-4D97-AF65-F5344CB8AC3E}">
        <p14:creationId xmlns:p14="http://schemas.microsoft.com/office/powerpoint/2010/main" val="27544182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35">
          <p15:clr>
            <a:srgbClr val="5ACBF0"/>
          </p15:clr>
        </p15:guide>
        <p15:guide id="3" orient="horz" pos="1910">
          <p15:clr>
            <a:srgbClr val="5ACBF0"/>
          </p15:clr>
        </p15:guide>
        <p15:guide id="4" orient="horz" pos="2505">
          <p15:clr>
            <a:srgbClr val="5ACBF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5268851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4461476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2694306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9741171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42899712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Titl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588048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349908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7888054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6802968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2618671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0D155-47E8-D819-5FA4-748607570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Picture Placeholder 9">
            <a:extLst>
              <a:ext uri="{FF2B5EF4-FFF2-40B4-BE49-F238E27FC236}">
                <a16:creationId xmlns:a16="http://schemas.microsoft.com/office/drawing/2014/main" id="{5022EE65-FBB2-C961-B89F-9DADBDB2DB3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827263" y="2199576"/>
            <a:ext cx="3760470" cy="3760470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effectLst>
            <a:outerShdw blurRad="215900" dist="190500" dir="2700000" sx="101000" sy="101000" algn="ctr" rotWithShape="0">
              <a:srgbClr val="000000">
                <a:alpha val="23000"/>
              </a:srgbClr>
            </a:outerShdw>
          </a:effectLst>
        </p:spPr>
        <p:txBody>
          <a:bodyPr vert="horz" wrap="square" lIns="0" tIns="0" rIns="0" bIns="0" rtlCol="0" anchor="ctr" anchorCtr="0">
            <a:normAutofit/>
          </a:bodyPr>
          <a:lstStyle>
            <a:lvl1pPr marL="228600" indent="-228600" algn="ctr">
              <a:buNone/>
              <a:defRPr lang="en-US" sz="1800" b="1">
                <a:solidFill>
                  <a:schemeClr val="tx1"/>
                </a:solidFill>
                <a:latin typeface="+mn-lt"/>
              </a:defRPr>
            </a:lvl1pPr>
          </a:lstStyle>
          <a:p>
            <a:pPr marL="228600" lvl="0" indent="-228600" algn="ctr"/>
            <a:r>
              <a:rPr lang="en-US" dirty="0"/>
              <a:t>Click to insert photo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4B878651-6EA0-F1DE-DDB3-D4C07A4E594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245931" y="3206751"/>
            <a:ext cx="2706480" cy="147732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2A3F807-DEFB-6026-D7BD-82284EB7FB76}"/>
              </a:ext>
            </a:extLst>
          </p:cNvPr>
          <p:cNvSpPr/>
          <p:nvPr/>
        </p:nvSpPr>
        <p:spPr>
          <a:xfrm>
            <a:off x="552732" y="2199576"/>
            <a:ext cx="693200" cy="604267"/>
          </a:xfrm>
          <a:custGeom>
            <a:avLst/>
            <a:gdLst>
              <a:gd name="connsiteX0" fmla="*/ 393237 w 674431"/>
              <a:gd name="connsiteY0" fmla="*/ 0 h 587906"/>
              <a:gd name="connsiteX1" fmla="*/ 616089 w 674431"/>
              <a:gd name="connsiteY1" fmla="*/ 0 h 587906"/>
              <a:gd name="connsiteX2" fmla="*/ 616151 w 674431"/>
              <a:gd name="connsiteY2" fmla="*/ 0 h 587906"/>
              <a:gd name="connsiteX3" fmla="*/ 674431 w 674431"/>
              <a:gd name="connsiteY3" fmla="*/ 58280 h 587906"/>
              <a:gd name="connsiteX4" fmla="*/ 674431 w 674431"/>
              <a:gd name="connsiteY4" fmla="*/ 221738 h 587906"/>
              <a:gd name="connsiteX5" fmla="*/ 597219 w 674431"/>
              <a:gd name="connsiteY5" fmla="*/ 471750 h 587906"/>
              <a:gd name="connsiteX6" fmla="*/ 393361 w 674431"/>
              <a:gd name="connsiteY6" fmla="*/ 587630 h 587906"/>
              <a:gd name="connsiteX7" fmla="*/ 380245 w 674431"/>
              <a:gd name="connsiteY7" fmla="*/ 577174 h 587906"/>
              <a:gd name="connsiteX8" fmla="*/ 380245 w 674431"/>
              <a:gd name="connsiteY8" fmla="*/ 489011 h 587906"/>
              <a:gd name="connsiteX9" fmla="*/ 387484 w 674431"/>
              <a:gd name="connsiteY9" fmla="*/ 478865 h 587906"/>
              <a:gd name="connsiteX10" fmla="*/ 523100 w 674431"/>
              <a:gd name="connsiteY10" fmla="*/ 363541 h 587906"/>
              <a:gd name="connsiteX11" fmla="*/ 540423 w 674431"/>
              <a:gd name="connsiteY11" fmla="*/ 283112 h 587906"/>
              <a:gd name="connsiteX12" fmla="*/ 533308 w 674431"/>
              <a:gd name="connsiteY12" fmla="*/ 276306 h 587906"/>
              <a:gd name="connsiteX13" fmla="*/ 393361 w 674431"/>
              <a:gd name="connsiteY13" fmla="*/ 276306 h 587906"/>
              <a:gd name="connsiteX14" fmla="*/ 374986 w 674431"/>
              <a:gd name="connsiteY14" fmla="*/ 257931 h 587906"/>
              <a:gd name="connsiteX15" fmla="*/ 374986 w 674431"/>
              <a:gd name="connsiteY15" fmla="*/ 18251 h 587906"/>
              <a:gd name="connsiteX16" fmla="*/ 393237 w 674431"/>
              <a:gd name="connsiteY16" fmla="*/ 0 h 587906"/>
              <a:gd name="connsiteX17" fmla="*/ 58466 w 674431"/>
              <a:gd name="connsiteY17" fmla="*/ 0 h 587906"/>
              <a:gd name="connsiteX18" fmla="*/ 281070 w 674431"/>
              <a:gd name="connsiteY18" fmla="*/ 0 h 587906"/>
              <a:gd name="connsiteX19" fmla="*/ 299445 w 674431"/>
              <a:gd name="connsiteY19" fmla="*/ 18375 h 587906"/>
              <a:gd name="connsiteX20" fmla="*/ 299445 w 674431"/>
              <a:gd name="connsiteY20" fmla="*/ 221738 h 587906"/>
              <a:gd name="connsiteX21" fmla="*/ 222233 w 674431"/>
              <a:gd name="connsiteY21" fmla="*/ 471750 h 587906"/>
              <a:gd name="connsiteX22" fmla="*/ 18375 w 674431"/>
              <a:gd name="connsiteY22" fmla="*/ 587630 h 587906"/>
              <a:gd name="connsiteX23" fmla="*/ 5259 w 674431"/>
              <a:gd name="connsiteY23" fmla="*/ 577174 h 587906"/>
              <a:gd name="connsiteX24" fmla="*/ 5259 w 674431"/>
              <a:gd name="connsiteY24" fmla="*/ 489011 h 587906"/>
              <a:gd name="connsiteX25" fmla="*/ 12497 w 674431"/>
              <a:gd name="connsiteY25" fmla="*/ 478865 h 587906"/>
              <a:gd name="connsiteX26" fmla="*/ 148114 w 674431"/>
              <a:gd name="connsiteY26" fmla="*/ 363541 h 587906"/>
              <a:gd name="connsiteX27" fmla="*/ 165437 w 674431"/>
              <a:gd name="connsiteY27" fmla="*/ 283112 h 587906"/>
              <a:gd name="connsiteX28" fmla="*/ 158322 w 674431"/>
              <a:gd name="connsiteY28" fmla="*/ 276306 h 587906"/>
              <a:gd name="connsiteX29" fmla="*/ 18375 w 674431"/>
              <a:gd name="connsiteY29" fmla="*/ 276306 h 587906"/>
              <a:gd name="connsiteX30" fmla="*/ 0 w 674431"/>
              <a:gd name="connsiteY30" fmla="*/ 257931 h 587906"/>
              <a:gd name="connsiteX31" fmla="*/ 0 w 674431"/>
              <a:gd name="connsiteY31" fmla="*/ 58466 h 587906"/>
              <a:gd name="connsiteX32" fmla="*/ 58466 w 674431"/>
              <a:gd name="connsiteY32" fmla="*/ 0 h 5879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674431" h="587906">
                <a:moveTo>
                  <a:pt x="393237" y="0"/>
                </a:moveTo>
                <a:lnTo>
                  <a:pt x="616089" y="0"/>
                </a:lnTo>
                <a:lnTo>
                  <a:pt x="616151" y="0"/>
                </a:lnTo>
                <a:cubicBezTo>
                  <a:pt x="648322" y="0"/>
                  <a:pt x="674431" y="26109"/>
                  <a:pt x="674431" y="58280"/>
                </a:cubicBezTo>
                <a:lnTo>
                  <a:pt x="674431" y="221738"/>
                </a:lnTo>
                <a:cubicBezTo>
                  <a:pt x="674431" y="328152"/>
                  <a:pt x="648694" y="411490"/>
                  <a:pt x="597219" y="471750"/>
                </a:cubicBezTo>
                <a:cubicBezTo>
                  <a:pt x="548157" y="529102"/>
                  <a:pt x="480225" y="567770"/>
                  <a:pt x="393361" y="587630"/>
                </a:cubicBezTo>
                <a:cubicBezTo>
                  <a:pt x="386679" y="589177"/>
                  <a:pt x="380245" y="584042"/>
                  <a:pt x="380245" y="577174"/>
                </a:cubicBezTo>
                <a:lnTo>
                  <a:pt x="380245" y="489011"/>
                </a:lnTo>
                <a:cubicBezTo>
                  <a:pt x="380245" y="484433"/>
                  <a:pt x="383153" y="480288"/>
                  <a:pt x="387484" y="478865"/>
                </a:cubicBezTo>
                <a:cubicBezTo>
                  <a:pt x="454240" y="456778"/>
                  <a:pt x="499466" y="418295"/>
                  <a:pt x="523100" y="363541"/>
                </a:cubicBezTo>
                <a:cubicBezTo>
                  <a:pt x="535969" y="335824"/>
                  <a:pt x="541784" y="309035"/>
                  <a:pt x="540423" y="283112"/>
                </a:cubicBezTo>
                <a:cubicBezTo>
                  <a:pt x="540238" y="279276"/>
                  <a:pt x="537082" y="276306"/>
                  <a:pt x="533308" y="276306"/>
                </a:cubicBezTo>
                <a:lnTo>
                  <a:pt x="393361" y="276306"/>
                </a:lnTo>
                <a:cubicBezTo>
                  <a:pt x="383215" y="276306"/>
                  <a:pt x="374986" y="268078"/>
                  <a:pt x="374986" y="257931"/>
                </a:cubicBezTo>
                <a:lnTo>
                  <a:pt x="374986" y="18251"/>
                </a:lnTo>
                <a:cubicBezTo>
                  <a:pt x="374986" y="8167"/>
                  <a:pt x="383153" y="0"/>
                  <a:pt x="393237" y="0"/>
                </a:cubicBezTo>
                <a:close/>
                <a:moveTo>
                  <a:pt x="58466" y="0"/>
                </a:moveTo>
                <a:lnTo>
                  <a:pt x="281070" y="0"/>
                </a:lnTo>
                <a:cubicBezTo>
                  <a:pt x="291216" y="0"/>
                  <a:pt x="299445" y="8229"/>
                  <a:pt x="299445" y="18375"/>
                </a:cubicBezTo>
                <a:lnTo>
                  <a:pt x="299445" y="221738"/>
                </a:lnTo>
                <a:cubicBezTo>
                  <a:pt x="299445" y="328152"/>
                  <a:pt x="273708" y="411490"/>
                  <a:pt x="222233" y="471750"/>
                </a:cubicBezTo>
                <a:cubicBezTo>
                  <a:pt x="173171" y="529102"/>
                  <a:pt x="105239" y="567770"/>
                  <a:pt x="18375" y="587630"/>
                </a:cubicBezTo>
                <a:cubicBezTo>
                  <a:pt x="11631" y="589177"/>
                  <a:pt x="5259" y="584042"/>
                  <a:pt x="5259" y="577174"/>
                </a:cubicBezTo>
                <a:lnTo>
                  <a:pt x="5259" y="489011"/>
                </a:lnTo>
                <a:cubicBezTo>
                  <a:pt x="5259" y="484433"/>
                  <a:pt x="8167" y="480288"/>
                  <a:pt x="12497" y="478865"/>
                </a:cubicBezTo>
                <a:cubicBezTo>
                  <a:pt x="79254" y="456778"/>
                  <a:pt x="124480" y="418295"/>
                  <a:pt x="148114" y="363541"/>
                </a:cubicBezTo>
                <a:cubicBezTo>
                  <a:pt x="160983" y="335824"/>
                  <a:pt x="166798" y="309035"/>
                  <a:pt x="165437" y="283112"/>
                </a:cubicBezTo>
                <a:cubicBezTo>
                  <a:pt x="165252" y="279276"/>
                  <a:pt x="162096" y="276306"/>
                  <a:pt x="158322" y="276306"/>
                </a:cubicBezTo>
                <a:lnTo>
                  <a:pt x="18375" y="276306"/>
                </a:lnTo>
                <a:cubicBezTo>
                  <a:pt x="8229" y="276306"/>
                  <a:pt x="0" y="268078"/>
                  <a:pt x="0" y="257931"/>
                </a:cubicBezTo>
                <a:lnTo>
                  <a:pt x="0" y="58466"/>
                </a:lnTo>
                <a:cubicBezTo>
                  <a:pt x="0" y="26171"/>
                  <a:pt x="26171" y="0"/>
                  <a:pt x="58466" y="0"/>
                </a:cubicBezTo>
                <a:close/>
              </a:path>
            </a:pathLst>
          </a:custGeom>
          <a:solidFill>
            <a:schemeClr val="tx1"/>
          </a:solidFill>
          <a:ln w="6117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6B8F6EDE-3287-C98A-2287-E97E9546E9E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45931" y="4963876"/>
            <a:ext cx="270648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Quote author</a:t>
            </a:r>
          </a:p>
        </p:txBody>
      </p:sp>
    </p:spTree>
    <p:extLst>
      <p:ext uri="{BB962C8B-B14F-4D97-AF65-F5344CB8AC3E}">
        <p14:creationId xmlns:p14="http://schemas.microsoft.com/office/powerpoint/2010/main" val="9032936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reensho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E7235-22DD-1125-FF85-028A2E641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6359434" cy="55399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65C022-5A4E-84F5-B51B-1431B6A0AE21}"/>
              </a:ext>
            </a:extLst>
          </p:cNvPr>
          <p:cNvSpPr/>
          <p:nvPr/>
        </p:nvSpPr>
        <p:spPr bwMode="auto">
          <a:xfrm>
            <a:off x="7228114" y="292100"/>
            <a:ext cx="4659086" cy="6272213"/>
          </a:xfrm>
          <a:prstGeom prst="rect">
            <a:avLst/>
          </a:prstGeom>
          <a:gradFill>
            <a:gsLst>
              <a:gs pos="0">
                <a:srgbClr val="FFB3BB"/>
              </a:gs>
              <a:gs pos="100000">
                <a:srgbClr val="FFB900"/>
              </a:gs>
            </a:gsLst>
            <a:lin ang="8100000" scaled="1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B5068233-F46E-B659-0799-22A45E3DA22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76380" y="1866864"/>
            <a:ext cx="5544120" cy="3124272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effectLst>
            <a:outerShdw blurRad="241300" dist="304800" dir="2700000" sx="101000" sy="101000" algn="ctr" rotWithShape="0">
              <a:srgbClr val="000000">
                <a:alpha val="17000"/>
              </a:srgbClr>
            </a:outerShdw>
          </a:effectLst>
        </p:spPr>
        <p:txBody>
          <a:bodyPr lIns="731520" rIns="73152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1020F17E-67BE-FC02-AF7B-709A3923C23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39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4932234"/>
      </p:ext>
    </p:extLst>
  </p:cSld>
  <p:clrMapOvr>
    <a:masterClrMapping/>
  </p:clrMapOvr>
  <p:transition>
    <p:fade/>
  </p:transition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reensho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565C022-5A4E-84F5-B51B-1431B6A0AE21}"/>
              </a:ext>
            </a:extLst>
          </p:cNvPr>
          <p:cNvSpPr/>
          <p:nvPr/>
        </p:nvSpPr>
        <p:spPr bwMode="auto">
          <a:xfrm>
            <a:off x="304800" y="292100"/>
            <a:ext cx="11582400" cy="6272213"/>
          </a:xfrm>
          <a:prstGeom prst="rect">
            <a:avLst/>
          </a:prstGeom>
          <a:gradFill>
            <a:gsLst>
              <a:gs pos="64000">
                <a:srgbClr val="0D82CB"/>
              </a:gs>
              <a:gs pos="0">
                <a:srgbClr val="7FDE7B"/>
              </a:gs>
            </a:gsLst>
            <a:lin ang="8100000" scaled="1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83E7235-22DD-1125-FF85-028A2E641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2896801"/>
            <a:ext cx="3590037" cy="1661993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B5068233-F46E-B659-0799-22A45E3DA22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461762" y="1490647"/>
            <a:ext cx="6879337" cy="3876706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effectLst>
            <a:outerShdw blurRad="241300" dist="304800" dir="2700000" sx="101000" sy="101000" algn="ctr" rotWithShape="0">
              <a:srgbClr val="000000">
                <a:alpha val="17000"/>
              </a:srgbClr>
            </a:outerShdw>
          </a:effectLst>
        </p:spPr>
        <p:txBody>
          <a:bodyPr lIns="1097280" rIns="109728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6639293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slide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B0FE6-6EE4-72F6-EE0C-E481F72F7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4910837" cy="110799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EC160D-0F95-E237-7287-43174DA4A3F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1816100"/>
            <a:ext cx="4910838" cy="20436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3" name="Picture Placeholder 15">
            <a:extLst>
              <a:ext uri="{FF2B5EF4-FFF2-40B4-BE49-F238E27FC236}">
                <a16:creationId xmlns:a16="http://schemas.microsoft.com/office/drawing/2014/main" id="{90C592A4-DBC6-A7A9-63D9-5020A47499F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0"/>
            <a:ext cx="6096000" cy="6858000"/>
          </a:xfrm>
          <a:blipFill>
            <a:blip r:embed="rId2"/>
            <a:stretch>
              <a:fillRect/>
            </a:stretch>
          </a:blipFill>
          <a:effectLst/>
        </p:spPr>
        <p:txBody>
          <a:bodyPr lIns="1097280" rIns="109728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7489036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B0FE6-6EE4-72F6-EE0C-E481F72F7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4910837" cy="1107996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EC160D-0F95-E237-7287-43174DA4A3F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1816100"/>
            <a:ext cx="4910838" cy="16127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Picture Placeholder 15">
            <a:extLst>
              <a:ext uri="{FF2B5EF4-FFF2-40B4-BE49-F238E27FC236}">
                <a16:creationId xmlns:a16="http://schemas.microsoft.com/office/drawing/2014/main" id="{830D09FD-2495-FD73-64EA-14E484039EF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0"/>
            <a:ext cx="6096000" cy="6858000"/>
          </a:xfrm>
          <a:blipFill>
            <a:blip r:embed="rId2"/>
            <a:stretch>
              <a:fillRect/>
            </a:stretch>
          </a:blipFill>
          <a:effectLst/>
        </p:spPr>
        <p:txBody>
          <a:bodyPr lIns="1097280" rIns="109728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4168586858"/>
      </p:ext>
    </p:extLst>
  </p:cSld>
  <p:clrMapOvr>
    <a:masterClrMapping/>
  </p:clrMapOvr>
  <p:transition>
    <p:fade/>
  </p:transition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655B182-C5FF-81E8-8156-470DF32495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4200" y="2798286"/>
            <a:ext cx="4663440" cy="738664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800" spc="-50" baseline="0">
                <a:solidFill>
                  <a:schemeClr val="tx2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BC71D650-3B87-D82E-F786-ADD5DDCE4C7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4199" y="4847464"/>
            <a:ext cx="3898901" cy="246221"/>
          </a:xfrm>
          <a:noFill/>
        </p:spPr>
        <p:txBody>
          <a:bodyPr wrap="square" lIns="0" tIns="0" rIns="0" bIns="0" anchor="b" anchorCtr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5A3663-712F-A49D-172F-24B8615113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4199" y="5106140"/>
            <a:ext cx="3898901" cy="184666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2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Contact information</a:t>
            </a:r>
          </a:p>
        </p:txBody>
      </p:sp>
      <p:pic>
        <p:nvPicPr>
          <p:cNvPr id="8" name="MS logo gray - EMF" descr="Microsoft logo, gray text version">
            <a:extLst>
              <a:ext uri="{FF2B5EF4-FFF2-40B4-BE49-F238E27FC236}">
                <a16:creationId xmlns:a16="http://schemas.microsoft.com/office/drawing/2014/main" id="{4B828D67-4891-FD7F-4AA2-E9E4A65251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993208"/>
      </p:ext>
    </p:extLst>
  </p:cSld>
  <p:clrMapOvr>
    <a:masterClrMapping/>
  </p:clrMapOvr>
  <p:transition>
    <p:fade/>
  </p:transition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hank you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655B182-C5FF-81E8-8156-470DF32495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4200" y="2798286"/>
            <a:ext cx="4663440" cy="738664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800" spc="-50" baseline="0">
                <a:solidFill>
                  <a:schemeClr val="tx2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BC71D650-3B87-D82E-F786-ADD5DDCE4C7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4199" y="4847464"/>
            <a:ext cx="3898901" cy="246221"/>
          </a:xfrm>
          <a:noFill/>
        </p:spPr>
        <p:txBody>
          <a:bodyPr wrap="square" lIns="0" tIns="0" rIns="0" bIns="0" anchor="b" anchorCtr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5A3663-712F-A49D-172F-24B8615113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4199" y="5106140"/>
            <a:ext cx="3898901" cy="184666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2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Contact information</a:t>
            </a:r>
          </a:p>
        </p:txBody>
      </p:sp>
      <p:pic>
        <p:nvPicPr>
          <p:cNvPr id="8" name="MS logo gray - EMF" descr="Microsoft logo, gray text version">
            <a:extLst>
              <a:ext uri="{FF2B5EF4-FFF2-40B4-BE49-F238E27FC236}">
                <a16:creationId xmlns:a16="http://schemas.microsoft.com/office/drawing/2014/main" id="{4B828D67-4891-FD7F-4AA2-E9E4A65251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411529"/>
      </p:ext>
    </p:extLst>
  </p:cSld>
  <p:clrMapOvr>
    <a:masterClrMapping/>
  </p:clrMapOvr>
  <p:transition>
    <p:fade/>
  </p:transition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088326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16899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logo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3" descr="This is a copyright notice that should be included on the final slide."/>
          <p:cNvSpPr txBox="1">
            <a:spLocks noChangeArrowheads="1"/>
          </p:cNvSpPr>
          <p:nvPr/>
        </p:nvSpPr>
        <p:spPr bwMode="blackWhite">
          <a:xfrm>
            <a:off x="584200" y="6161316"/>
            <a:ext cx="4482124" cy="10772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defTabSz="932290" eaLnBrk="0" hangingPunct="0"/>
            <a:r>
              <a:rPr lang="en-US" sz="700" dirty="0">
                <a:solidFill>
                  <a:schemeClr val="tx1"/>
                </a:solidFill>
                <a:cs typeface="Segoe UI" pitchFamily="34" charset="0"/>
              </a:rPr>
              <a:t>© Copyright Microsoft Corporation. All rights reserved. </a:t>
            </a:r>
          </a:p>
        </p:txBody>
      </p:sp>
      <p:pic>
        <p:nvPicPr>
          <p:cNvPr id="5" name="MS logo white - EMF" descr="Microsoft logo white text version">
            <a:extLst>
              <a:ext uri="{FF2B5EF4-FFF2-40B4-BE49-F238E27FC236}">
                <a16:creationId xmlns:a16="http://schemas.microsoft.com/office/drawing/2014/main" id="{70D3778F-A717-44C8-9013-FF206B15DD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5375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ck Notes slide Layout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 bwMode="white"/>
        <p:txBody>
          <a:bodyPr/>
          <a:lstStyle>
            <a:lvl1pPr>
              <a:defRPr b="0">
                <a:solidFill>
                  <a:schemeClr val="tx1"/>
                </a:solidFill>
                <a:latin typeface="+mj-lt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B6606D-2DF9-48CD-BBE9-B751BF55CD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 bwMode="white">
          <a:xfrm>
            <a:off x="584200" y="1436688"/>
            <a:ext cx="11018838" cy="2215991"/>
          </a:xfrm>
        </p:spPr>
        <p:txBody>
          <a:bodyPr>
            <a:spAutoFit/>
          </a:bodyPr>
          <a:lstStyle>
            <a:lvl1pPr>
              <a:defRPr sz="3600">
                <a:latin typeface="+mn-lt"/>
              </a:defRPr>
            </a:lvl1pPr>
            <a:lvl2pPr>
              <a:defRPr sz="2800">
                <a:latin typeface="+mn-lt"/>
              </a:defRPr>
            </a:lvl2pPr>
            <a:lvl3pPr>
              <a:defRPr sz="24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1800">
                <a:latin typeface="+mn-lt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Next slide"/>
          <p:cNvSpPr>
            <a:spLocks noGrp="1"/>
          </p:cNvSpPr>
          <p:nvPr>
            <p:ph type="body" sz="quarter" idx="11" hasCustomPrompt="1"/>
          </p:nvPr>
        </p:nvSpPr>
        <p:spPr>
          <a:xfrm>
            <a:off x="1" y="6269038"/>
            <a:ext cx="12192001" cy="588963"/>
          </a:xfrm>
          <a:prstGeom prst="rect">
            <a:avLst/>
          </a:prstGeom>
          <a:solidFill>
            <a:srgbClr val="FFFF99"/>
          </a:solidFill>
        </p:spPr>
        <p:txBody>
          <a:bodyPr wrap="square" lIns="155457" tIns="77729" rIns="155457" bIns="45720" anchor="b" anchorCtr="0">
            <a:noAutofit/>
          </a:bodyPr>
          <a:lstStyle>
            <a:lvl1pPr algn="r">
              <a:buFont typeface="Arial" pitchFamily="34" charset="0"/>
              <a:buNone/>
              <a:defRPr sz="3700" spc="-51" baseline="0">
                <a:solidFill>
                  <a:srgbClr val="000000"/>
                </a:solidFill>
                <a:effectLst/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Next:</a:t>
            </a:r>
          </a:p>
        </p:txBody>
      </p:sp>
    </p:spTree>
    <p:extLst>
      <p:ext uri="{BB962C8B-B14F-4D97-AF65-F5344CB8AC3E}">
        <p14:creationId xmlns:p14="http://schemas.microsoft.com/office/powerpoint/2010/main" val="1756456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904">
          <p15:clr>
            <a:srgbClr val="5ACBF0"/>
          </p15:clr>
        </p15:guide>
        <p15:guide id="2" orient="horz" pos="288">
          <p15:clr>
            <a:srgbClr val="5ACBF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A1AE380-3F53-E692-9808-00C72E56FE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BF998EB-668F-3F25-6D1B-BA299D2051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347C967-ECCA-41AE-6674-64E570536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230C7-5423-43F0-AE08-EE409515EA12}" type="datetimeFigureOut">
              <a:rPr kumimoji="1" lang="ja-JP" altLang="en-US" smtClean="0"/>
              <a:t>2026/6/12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E341A00-D236-8069-F329-97CA85365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52BFEA8-F1E5-1CFF-7A7A-E5508A41E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834EC-8B3F-46D7-B2EA-DA52255AF1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765571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275099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66" Type="http://schemas.openxmlformats.org/officeDocument/2006/relationships/slideLayout" Target="../slideLayouts/slideLayout66.xml"/><Relationship Id="rId7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blackWhite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584200" y="1435503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44" name="Graphic 143">
            <a:extLst>
              <a:ext uri="{FF2B5EF4-FFF2-40B4-BE49-F238E27FC236}">
                <a16:creationId xmlns:a16="http://schemas.microsoft.com/office/drawing/2014/main" id="{55FCE7D5-5796-0746-3173-EB75FBE85E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5"/>
              </a:ext>
            </a:extLst>
          </a:blip>
          <a:srcRect/>
          <a:stretch/>
        </p:blipFill>
        <p:spPr>
          <a:xfrm rot="5400000">
            <a:off x="9509919" y="2743200"/>
            <a:ext cx="68580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3466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  <p:sldLayoutId id="2147483714" r:id="rId54"/>
    <p:sldLayoutId id="2147483715" r:id="rId55"/>
    <p:sldLayoutId id="2147483716" r:id="rId56"/>
    <p:sldLayoutId id="2147483717" r:id="rId57"/>
    <p:sldLayoutId id="2147483718" r:id="rId58"/>
    <p:sldLayoutId id="2147483719" r:id="rId59"/>
    <p:sldLayoutId id="2147483720" r:id="rId60"/>
    <p:sldLayoutId id="2147483721" r:id="rId61"/>
    <p:sldLayoutId id="2147483722" r:id="rId62"/>
    <p:sldLayoutId id="2147483723" r:id="rId63"/>
    <p:sldLayoutId id="2147483724" r:id="rId64"/>
    <p:sldLayoutId id="2147483725" r:id="rId65"/>
    <p:sldLayoutId id="2147483726" r:id="rId66"/>
    <p:sldLayoutId id="2147483727" r:id="rId67"/>
    <p:sldLayoutId id="2147483728" r:id="rId68"/>
    <p:sldLayoutId id="2147483729" r:id="rId69"/>
    <p:sldLayoutId id="2147483730" r:id="rId70"/>
    <p:sldLayoutId id="2147483731" r:id="rId71"/>
    <p:sldLayoutId id="2147483732" r:id="rId72"/>
    <p:sldLayoutId id="2147483733" r:id="rId73"/>
  </p:sldLayoutIdLst>
  <p:transition>
    <p:fade/>
  </p:transition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kumimoji="1" lang="en-US" sz="3600" b="0" kern="1200" cap="none" spc="-50" baseline="0" dirty="0" smtClean="0">
          <a:ln w="3175">
            <a:noFill/>
          </a:ln>
          <a:solidFill>
            <a:schemeClr val="tx2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2800" kern="1200" spc="0" baseline="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16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14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14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0">
          <p15:clr>
            <a:srgbClr val="C35EA4"/>
          </p15:clr>
        </p15:guide>
        <p15:guide id="17" pos="7320">
          <p15:clr>
            <a:srgbClr val="C35EA4"/>
          </p15:clr>
        </p15:guide>
        <p15:guide id="25" orient="horz" pos="369">
          <p15:clr>
            <a:srgbClr val="C35EA4"/>
          </p15:clr>
        </p15:guide>
        <p15:guide id="26" orient="horz" pos="3949">
          <p15:clr>
            <a:srgbClr val="C35EA4"/>
          </p15:clr>
        </p15:guide>
        <p15:guide id="27" orient="horz" pos="184">
          <p15:clr>
            <a:srgbClr val="A4A3A4"/>
          </p15:clr>
        </p15:guide>
        <p15:guide id="28" pos="192">
          <p15:clr>
            <a:srgbClr val="A4A3A4"/>
          </p15:clr>
        </p15:guide>
        <p15:guide id="29" orient="horz" pos="4135">
          <p15:clr>
            <a:srgbClr val="A4A3A4"/>
          </p15:clr>
        </p15:guide>
        <p15:guide id="30" pos="7488">
          <p15:clr>
            <a:srgbClr val="A4A3A4"/>
          </p15:clr>
        </p15:guide>
        <p15:guide id="31" orient="horz" pos="400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g"/><Relationship Id="rId2" Type="http://schemas.openxmlformats.org/officeDocument/2006/relationships/hyperlink" Target="https://zenn.dev/okazuki" TargetMode="External"/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3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3.xml"/><Relationship Id="rId5" Type="http://schemas.openxmlformats.org/officeDocument/2006/relationships/image" Target="../media/image48.png"/><Relationship Id="rId4" Type="http://schemas.openxmlformats.org/officeDocument/2006/relationships/image" Target="../media/image4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5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ja-JP" b="1" dirty="0"/>
              <a:t>Durable Functions 入門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2"/>
          </p:nvPr>
        </p:nvSpPr>
        <p:spPr>
          <a:xfrm>
            <a:off x="584200" y="3962400"/>
            <a:ext cx="4978400" cy="553998"/>
          </a:xfrm>
        </p:spPr>
        <p:txBody>
          <a:bodyPr/>
          <a:lstStyle/>
          <a:p>
            <a:pPr>
              <a:buNone/>
            </a:pPr>
            <a:r>
              <a:rPr lang="ja-JP" sz="1800" dirty="0"/>
              <a:t>Kazuki Ota / 日本マイクロソフト</a:t>
            </a:r>
          </a:p>
          <a:p>
            <a:pPr>
              <a:buNone/>
            </a:pPr>
            <a:r>
              <a:rPr lang="ja-JP" sz="1800" dirty="0"/>
              <a:t>YonaYona Azure Club  2026.06.12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 wrap="square" anchor="t">
            <a:normAutofit/>
          </a:bodyPr>
          <a:lstStyle/>
          <a:p>
            <a:r>
              <a:rPr lang="ja-JP" dirty="0"/>
              <a:t>自己紹介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511800" cy="4833938"/>
          </a:xfrm>
        </p:spPr>
        <p:txBody>
          <a:bodyPr wrap="square">
            <a:normAutofit fontScale="92500"/>
          </a:bodyPr>
          <a:lstStyle/>
          <a:p>
            <a:pPr marL="0" indent="0">
              <a:buNone/>
            </a:pPr>
            <a:r>
              <a:rPr lang="ja-JP" altLang="ja-JP" dirty="0"/>
              <a:t>日本マイクロソフト</a:t>
            </a:r>
            <a:br>
              <a:rPr lang="en-US" altLang="ja-JP" dirty="0"/>
            </a:br>
            <a:r>
              <a:rPr lang="en-US" altLang="ja-JP" dirty="0"/>
              <a:t>Cloud Solution Architect &amp; Evangelist</a:t>
            </a:r>
            <a:endParaRPr lang="ja-JP" altLang="ja-JP" dirty="0"/>
          </a:p>
          <a:p>
            <a:pPr marL="0" lvl="0" indent="0">
              <a:buNone/>
            </a:pPr>
            <a:r>
              <a:rPr lang="ja-JP" dirty="0"/>
              <a:t>大田 一希 (Kazuki Ota)</a:t>
            </a:r>
            <a:endParaRPr lang="en-US" altLang="ja-JP" dirty="0"/>
          </a:p>
          <a:p>
            <a:pPr lvl="0"/>
            <a:endParaRPr lang="en-US" altLang="ja-JP" dirty="0"/>
          </a:p>
          <a:p>
            <a:pPr marL="0" lvl="0" indent="0">
              <a:buNone/>
            </a:pPr>
            <a:r>
              <a:rPr lang="en-US" altLang="ja-JP" dirty="0"/>
              <a:t>SNS/</a:t>
            </a:r>
            <a:r>
              <a:rPr lang="ja-JP" altLang="en-US" dirty="0"/>
              <a:t>ブログ</a:t>
            </a:r>
            <a:endParaRPr lang="ja-JP" dirty="0"/>
          </a:p>
          <a:p>
            <a:pPr lvl="0"/>
            <a:r>
              <a:rPr lang="en-US" dirty="0"/>
              <a:t>X / GitHub: @okazuki/@runceel</a:t>
            </a:r>
          </a:p>
          <a:p>
            <a:pPr lvl="0"/>
            <a:r>
              <a:rPr lang="en-US" dirty="0"/>
              <a:t>Zenn: </a:t>
            </a:r>
            <a:r>
              <a:rPr lang="en-US" dirty="0">
                <a:hlinkClick r:id="rId2"/>
              </a:rPr>
              <a:t>https://zenn.dev/okazuki</a:t>
            </a:r>
            <a:endParaRPr lang="en-US" dirty="0"/>
          </a:p>
          <a:p>
            <a:pPr marL="0" lvl="0" indent="0">
              <a:buNone/>
            </a:pPr>
            <a:endParaRPr lang="en-US" dirty="0"/>
          </a:p>
          <a:p>
            <a:pPr marL="0" lvl="0" indent="0">
              <a:buNone/>
            </a:pPr>
            <a:r>
              <a:rPr lang="ja-JP" altLang="en-US" dirty="0"/>
              <a:t>最近のマイブーム</a:t>
            </a:r>
            <a:endParaRPr lang="en-US" dirty="0"/>
          </a:p>
          <a:p>
            <a:pPr lvl="0"/>
            <a:r>
              <a:rPr lang="en-US" dirty="0"/>
              <a:t>GitHub Copilot app</a:t>
            </a:r>
          </a:p>
        </p:txBody>
      </p:sp>
      <p:pic>
        <p:nvPicPr>
          <p:cNvPr id="5" name="図 4" descr="A person is standing against a wall with a large, colorful display of the Microsoft Windows logo.&#10;&#10;AI 生成コンテンツは誤りを含む可能性があります。">
            <a:extLst>
              <a:ext uri="{FF2B5EF4-FFF2-40B4-BE49-F238E27FC236}">
                <a16:creationId xmlns:a16="http://schemas.microsoft.com/office/drawing/2014/main" id="{31940806-BA72-485D-016F-A8618760F9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298" b="2"/>
          <a:stretch>
            <a:fillRect/>
          </a:stretch>
        </p:blipFill>
        <p:spPr>
          <a:xfrm>
            <a:off x="6389688" y="1435100"/>
            <a:ext cx="5219700" cy="483393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Background Image"/>
          <p:cNvPicPr>
            <a:picLocks noChangeAspect="1"/>
          </p:cNvPicPr>
          <p:nvPr/>
        </p:nvPicPr>
        <p:blipFill>
          <a:blip r:embed="rId2"/>
          <a:srcRect t="2369" b="1583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21D81D88-9A94-755A-94CF-9070522AF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b="1" dirty="0">
                <a:solidFill>
                  <a:schemeClr val="tx2">
                    <a:lumMod val="20000"/>
                    <a:lumOff val="80000"/>
                  </a:schemeClr>
                </a:solidFill>
              </a:rPr>
              <a:t>このセッションのゴール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3B67E2A-1797-7A95-3368-D72FF043A31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0" y="3213557"/>
            <a:ext cx="12192000" cy="979069"/>
          </a:xfr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540000" tIns="180000" rIns="540000" bIns="180000"/>
          <a:lstStyle/>
          <a:p>
            <a:pPr marL="0" indent="0" algn="ctr">
              <a:buNone/>
            </a:pPr>
            <a:r>
              <a:rPr kumimoji="1" lang="en-US" altLang="ja-JP" sz="4000" b="1" dirty="0">
                <a:solidFill>
                  <a:schemeClr val="bg1"/>
                </a:solidFill>
              </a:rPr>
              <a:t>Durable Functions </a:t>
            </a:r>
            <a:r>
              <a:rPr kumimoji="1" lang="ja-JP" altLang="en-US" sz="4000" b="1" dirty="0">
                <a:solidFill>
                  <a:schemeClr val="bg1"/>
                </a:solidFill>
              </a:rPr>
              <a:t>の雰囲気をつかんでもらう！</a:t>
            </a:r>
          </a:p>
        </p:txBody>
      </p:sp>
    </p:spTree>
    <p:extLst>
      <p:ext uri="{BB962C8B-B14F-4D97-AF65-F5344CB8AC3E}">
        <p14:creationId xmlns:p14="http://schemas.microsoft.com/office/powerpoint/2010/main" val="199690299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アジェンダ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>
          <a:xfrm>
            <a:off x="584200" y="1435100"/>
            <a:ext cx="11018838" cy="2499146"/>
          </a:xfrm>
        </p:spPr>
        <p:txBody>
          <a:bodyPr/>
          <a:lstStyle/>
          <a:p>
            <a:pPr lvl="0"/>
            <a:r>
              <a:rPr lang="en-US" altLang="ja-JP" dirty="0"/>
              <a:t>Azure Functions</a:t>
            </a:r>
            <a:r>
              <a:rPr lang="ja-JP" altLang="en-US" dirty="0"/>
              <a:t> とは</a:t>
            </a:r>
            <a:endParaRPr lang="en-US" altLang="ja-JP" dirty="0"/>
          </a:p>
          <a:p>
            <a:pPr lvl="0"/>
            <a:r>
              <a:rPr lang="ja-JP" dirty="0"/>
              <a:t>Durable Functions とは</a:t>
            </a:r>
          </a:p>
          <a:p>
            <a:pPr lvl="0"/>
            <a:r>
              <a:rPr lang="ja-JP" dirty="0"/>
              <a:t>Durable Task Scheduler</a:t>
            </a:r>
          </a:p>
          <a:p>
            <a:pPr lvl="0"/>
            <a:r>
              <a:rPr lang="ja-JP" altLang="en-US" dirty="0"/>
              <a:t>デモ</a:t>
            </a:r>
            <a:endParaRPr lang="ja-JP" dirty="0"/>
          </a:p>
          <a:p>
            <a:pPr lvl="0"/>
            <a:r>
              <a:rPr lang="ja-JP" dirty="0"/>
              <a:t>まとめ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Azure</a:t>
            </a:r>
            <a:r>
              <a:rPr lang="ja-JP" dirty="0"/>
              <a:t> Functions とは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us 17"/>
          <p:cNvSpPr/>
          <p:nvPr/>
        </p:nvSpPr>
        <p:spPr bwMode="auto">
          <a:xfrm>
            <a:off x="5749870" y="3332794"/>
            <a:ext cx="787420" cy="684181"/>
          </a:xfrm>
          <a:prstGeom prst="mathPlus">
            <a:avLst>
              <a:gd name="adj1" fmla="val 8757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03" tIns="146243" rIns="182803" bIns="146243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32007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0" cap="none" spc="0" normalizeH="0" baseline="0" noProof="0" dirty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 panose="020B0502040204020203" pitchFamily="34" charset="0"/>
              <a:ea typeface="Yu Gothic UI" panose="020B0500000000000000" pitchFamily="50" charset="-128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320549" y="1751151"/>
            <a:ext cx="1866688" cy="627741"/>
          </a:xfrm>
          <a:prstGeom prst="rect">
            <a:avLst/>
          </a:prstGeom>
          <a:noFill/>
        </p:spPr>
        <p:txBody>
          <a:bodyPr wrap="square" lIns="182803" tIns="146243" rIns="182803" bIns="146243" rtlCol="0" anchor="ctr">
            <a:spAutoFit/>
          </a:bodyPr>
          <a:lstStyle/>
          <a:p>
            <a:pPr lvl="0" algn="ctr" defTabSz="914086">
              <a:lnSpc>
                <a:spcPct val="90000"/>
              </a:lnSpc>
              <a:spcAft>
                <a:spcPts val="600"/>
              </a:spcAft>
              <a:defRPr/>
            </a:pPr>
            <a:r>
              <a:rPr lang="ja-JP" altLang="en-US" sz="2400" kern="0" dirty="0">
                <a:gradFill>
                  <a:gsLst>
                    <a:gs pos="76991">
                      <a:srgbClr val="2F2F2F"/>
                    </a:gs>
                    <a:gs pos="48000">
                      <a:srgbClr val="2F2F2F"/>
                    </a:gs>
                  </a:gsLst>
                  <a:lin ang="5400000" scaled="0"/>
                </a:gradFill>
                <a:latin typeface="Segoe UI" panose="020B0502040204020203" pitchFamily="34" charset="0"/>
                <a:ea typeface="Yu Gothic UI" panose="020B0500000000000000" pitchFamily="50" charset="-128"/>
              </a:rPr>
              <a:t>コード</a:t>
            </a:r>
            <a:endParaRPr kumimoji="0" lang="ja-JP" altLang="en-US" sz="2400" b="0" i="0" u="none" strike="noStrike" kern="0" cap="none" spc="0" normalizeH="0" baseline="0" noProof="0" dirty="0">
              <a:ln>
                <a:noFill/>
              </a:ln>
              <a:gradFill>
                <a:gsLst>
                  <a:gs pos="76991">
                    <a:srgbClr val="2F2F2F"/>
                  </a:gs>
                  <a:gs pos="48000">
                    <a:srgbClr val="2F2F2F"/>
                  </a:gs>
                </a:gsLst>
                <a:lin ang="5400000" scaled="0"/>
              </a:gradFill>
              <a:effectLst/>
              <a:uLnTx/>
              <a:uFillTx/>
              <a:latin typeface="Segoe UI" panose="020B0502040204020203" pitchFamily="34" charset="0"/>
              <a:ea typeface="Yu Gothic UI" panose="020B0500000000000000" pitchFamily="50" charset="-128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818184" y="1751151"/>
            <a:ext cx="1866688" cy="627741"/>
          </a:xfrm>
          <a:prstGeom prst="rect">
            <a:avLst/>
          </a:prstGeom>
          <a:noFill/>
        </p:spPr>
        <p:txBody>
          <a:bodyPr wrap="square" lIns="182803" tIns="146243" rIns="182803" bIns="146243" rtlCol="0" anchor="ctr">
            <a:spAutoFit/>
          </a:bodyPr>
          <a:lstStyle/>
          <a:p>
            <a:pPr marL="0" marR="0" lvl="0" indent="0" algn="ctr" defTabSz="914086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400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76991">
                      <a:srgbClr val="2F2F2F"/>
                    </a:gs>
                    <a:gs pos="48000">
                      <a:srgbClr val="2F2F2F"/>
                    </a:gs>
                  </a:gsLst>
                  <a:lin ang="5400000" scaled="0"/>
                </a:gradFill>
                <a:effectLst/>
                <a:uLnTx/>
                <a:uFillTx/>
                <a:latin typeface="Segoe UI" panose="020B0502040204020203" pitchFamily="34" charset="0"/>
                <a:ea typeface="Yu Gothic UI" panose="020B0500000000000000" pitchFamily="50" charset="-128"/>
              </a:rPr>
              <a:t>イベント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dirty="0"/>
              <a:t>Azure Functions </a:t>
            </a:r>
            <a:r>
              <a:rPr lang="ja-JP" altLang="en-US" dirty="0"/>
              <a:t>概要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753805" y="2349990"/>
            <a:ext cx="1016579" cy="2793437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690291" y="2337794"/>
            <a:ext cx="981839" cy="2793437"/>
          </a:xfrm>
          <a:prstGeom prst="rect">
            <a:avLst/>
          </a:prstGeom>
        </p:spPr>
      </p:pic>
      <p:pic>
        <p:nvPicPr>
          <p:cNvPr id="22" name="slash"/>
          <p:cNvPicPr>
            <a:picLocks noChangeAspect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709283" y="2353296"/>
            <a:ext cx="938979" cy="2793437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41968" y="2387595"/>
            <a:ext cx="3019120" cy="2664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3454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14="http://schemas.microsoft.com/office/drawing/2010/main"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/>
          <p:cNvSpPr txBox="1"/>
          <p:nvPr/>
        </p:nvSpPr>
        <p:spPr>
          <a:xfrm>
            <a:off x="4656000" y="1751821"/>
            <a:ext cx="2880000" cy="626400"/>
          </a:xfrm>
          <a:prstGeom prst="rect">
            <a:avLst/>
          </a:prstGeom>
          <a:noFill/>
        </p:spPr>
        <p:txBody>
          <a:bodyPr wrap="square" lIns="182803" tIns="146243" rIns="182803" bIns="146243" rtlCol="0" anchor="ctr">
            <a:noAutofit/>
          </a:bodyPr>
          <a:lstStyle/>
          <a:p>
            <a:pPr lvl="0" algn="ctr" defTabSz="914086">
              <a:lnSpc>
                <a:spcPct val="90000"/>
              </a:lnSpc>
              <a:spcAft>
                <a:spcPts val="600"/>
              </a:spcAft>
              <a:defRPr/>
            </a:pPr>
            <a:r>
              <a:rPr lang="en-US" altLang="ja-JP" sz="2800" kern="0" dirty="0">
                <a:gradFill>
                  <a:gsLst>
                    <a:gs pos="76991">
                      <a:srgbClr val="2F2F2F"/>
                    </a:gs>
                    <a:gs pos="48000">
                      <a:srgbClr val="2F2F2F"/>
                    </a:gs>
                  </a:gsLst>
                  <a:lin ang="5400000" scaled="0"/>
                </a:gradFill>
                <a:latin typeface="Segoe UI" panose="020B0502040204020203" pitchFamily="34" charset="0"/>
                <a:ea typeface="Yu Gothic UI" panose="020B0500000000000000" pitchFamily="50" charset="-128"/>
              </a:rPr>
              <a:t>Azure</a:t>
            </a:r>
            <a:r>
              <a:rPr lang="ja-JP" altLang="en-US" sz="2800" kern="0" dirty="0">
                <a:gradFill>
                  <a:gsLst>
                    <a:gs pos="76991">
                      <a:srgbClr val="2F2F2F"/>
                    </a:gs>
                    <a:gs pos="48000">
                      <a:srgbClr val="2F2F2F"/>
                    </a:gs>
                  </a:gsLst>
                  <a:lin ang="5400000" scaled="0"/>
                </a:gradFill>
                <a:latin typeface="Segoe UI" panose="020B0502040204020203" pitchFamily="34" charset="0"/>
                <a:ea typeface="Yu Gothic UI" panose="020B0500000000000000" pitchFamily="50" charset="-128"/>
              </a:rPr>
              <a:t> </a:t>
            </a:r>
            <a:r>
              <a:rPr lang="en-US" altLang="ja-JP" sz="2800" kern="0" dirty="0">
                <a:gradFill>
                  <a:gsLst>
                    <a:gs pos="76991">
                      <a:srgbClr val="2F2F2F"/>
                    </a:gs>
                    <a:gs pos="48000">
                      <a:srgbClr val="2F2F2F"/>
                    </a:gs>
                  </a:gsLst>
                  <a:lin ang="5400000" scaled="0"/>
                </a:gradFill>
                <a:latin typeface="Segoe UI" panose="020B0502040204020203" pitchFamily="34" charset="0"/>
                <a:ea typeface="Yu Gothic UI" panose="020B0500000000000000" pitchFamily="50" charset="-128"/>
              </a:rPr>
              <a:t>Functions</a:t>
            </a:r>
            <a:endParaRPr kumimoji="0" lang="ja-JP" altLang="en-US" sz="2800" b="0" i="0" u="none" strike="noStrike" kern="0" cap="none" spc="0" normalizeH="0" baseline="0" noProof="0" dirty="0">
              <a:ln>
                <a:noFill/>
              </a:ln>
              <a:gradFill>
                <a:gsLst>
                  <a:gs pos="76991">
                    <a:srgbClr val="2F2F2F"/>
                  </a:gs>
                  <a:gs pos="48000">
                    <a:srgbClr val="2F2F2F"/>
                  </a:gs>
                </a:gsLst>
                <a:lin ang="5400000" scaled="0"/>
              </a:gradFill>
              <a:effectLst/>
              <a:uLnTx/>
              <a:uFillTx/>
              <a:latin typeface="Segoe UI" panose="020B0502040204020203" pitchFamily="34" charset="0"/>
              <a:ea typeface="Yu Gothic UI" panose="020B0500000000000000" pitchFamily="50" charset="-128"/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dirty="0"/>
              <a:t>Azure Functions </a:t>
            </a:r>
            <a:r>
              <a:rPr lang="ja-JP" altLang="en-US" dirty="0"/>
              <a:t>概要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56000" y="2244442"/>
            <a:ext cx="1016579" cy="2793437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592486" y="2244442"/>
            <a:ext cx="981839" cy="2793437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6440" y="2373599"/>
            <a:ext cx="3019120" cy="2664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0356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9ED3743F-DDEA-3EB4-B0BC-8CE11D7CDB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Azure Functions </a:t>
            </a:r>
            <a:r>
              <a:rPr lang="ja-JP" altLang="en-US" dirty="0"/>
              <a:t>の特徴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7B96B07-DD46-1826-35A5-8BC13D901D7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5100"/>
            <a:ext cx="11018838" cy="1982081"/>
          </a:xfrm>
        </p:spPr>
        <p:txBody>
          <a:bodyPr/>
          <a:lstStyle/>
          <a:p>
            <a:r>
              <a:rPr lang="ja-JP" altLang="en-US" dirty="0"/>
              <a:t>イベント駆動でコードを実行可能</a:t>
            </a:r>
            <a:endParaRPr lang="en-US" altLang="ja-JP" dirty="0"/>
          </a:p>
          <a:p>
            <a:r>
              <a:rPr lang="ja-JP" altLang="en-US" dirty="0"/>
              <a:t>イベント数に応じた自動スケール アウト（最大</a:t>
            </a:r>
            <a:r>
              <a:rPr lang="en-US" altLang="ja-JP" dirty="0"/>
              <a:t>1000</a:t>
            </a:r>
            <a:r>
              <a:rPr lang="ja-JP" altLang="en-US" dirty="0"/>
              <a:t>台）</a:t>
            </a:r>
            <a:endParaRPr lang="en-US" altLang="ja-JP" dirty="0"/>
          </a:p>
          <a:p>
            <a:r>
              <a:rPr lang="ja-JP" altLang="en-US" dirty="0"/>
              <a:t>使った分だけ細かく課金</a:t>
            </a:r>
            <a:endParaRPr lang="en-US" altLang="ja-JP" dirty="0"/>
          </a:p>
          <a:p>
            <a:r>
              <a:rPr lang="ja-JP" altLang="en-US" dirty="0"/>
              <a:t>コードの実行時間は</a:t>
            </a:r>
            <a:r>
              <a:rPr lang="en-US" altLang="ja-JP" dirty="0"/>
              <a:t>5</a:t>
            </a:r>
            <a:r>
              <a:rPr lang="ja-JP" altLang="en-US" dirty="0"/>
              <a:t>分以内（長くても</a:t>
            </a:r>
            <a:r>
              <a:rPr lang="en-US" altLang="ja-JP" dirty="0"/>
              <a:t>10</a:t>
            </a:r>
            <a:r>
              <a:rPr lang="ja-JP" altLang="en-US" dirty="0"/>
              <a:t>分）</a:t>
            </a:r>
          </a:p>
        </p:txBody>
      </p:sp>
      <p:sp>
        <p:nvSpPr>
          <p:cNvPr id="5" name="矢印: 下 4">
            <a:extLst>
              <a:ext uri="{FF2B5EF4-FFF2-40B4-BE49-F238E27FC236}">
                <a16:creationId xmlns:a16="http://schemas.microsoft.com/office/drawing/2014/main" id="{29ECA0B4-B373-9A90-D57B-2CEAEBF77F7B}"/>
              </a:ext>
            </a:extLst>
          </p:cNvPr>
          <p:cNvSpPr/>
          <p:nvPr/>
        </p:nvSpPr>
        <p:spPr bwMode="auto">
          <a:xfrm>
            <a:off x="5481029" y="3553901"/>
            <a:ext cx="1063689" cy="681135"/>
          </a:xfrm>
          <a:prstGeom prst="downArrow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kumimoji="1" lang="ja-JP" altLang="en-US" sz="2000" dirty="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02ACE08-5933-BA7D-E98C-DA8AA58B5D72}"/>
              </a:ext>
            </a:extLst>
          </p:cNvPr>
          <p:cNvSpPr/>
          <p:nvPr/>
        </p:nvSpPr>
        <p:spPr bwMode="auto">
          <a:xfrm>
            <a:off x="1440019" y="4384322"/>
            <a:ext cx="8967516" cy="2077155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kumimoji="1" lang="en-US" altLang="ja-JP" sz="2400" b="1" u="sng" dirty="0">
                <a:solidFill>
                  <a:srgbClr val="FFFFFF"/>
                </a:solidFill>
                <a:ea typeface="Segoe UI" pitchFamily="34" charset="0"/>
                <a:cs typeface="Segoe UI" pitchFamily="34" charset="0"/>
              </a:rPr>
              <a:t>Azure Functions </a:t>
            </a:r>
            <a:r>
              <a:rPr kumimoji="1" lang="ja-JP" altLang="en-US" sz="2400" b="1" u="sng" dirty="0">
                <a:solidFill>
                  <a:srgbClr val="FFFFFF"/>
                </a:solidFill>
                <a:ea typeface="Segoe UI" pitchFamily="34" charset="0"/>
                <a:cs typeface="Segoe UI" pitchFamily="34" charset="0"/>
              </a:rPr>
              <a:t>が向いている処理</a:t>
            </a:r>
            <a:endParaRPr kumimoji="1" lang="en-US" altLang="ja-JP" sz="2400" b="1" u="sng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400" dirty="0">
                <a:solidFill>
                  <a:srgbClr val="FFFFFF"/>
                </a:solidFill>
                <a:ea typeface="Segoe UI" pitchFamily="34" charset="0"/>
                <a:cs typeface="Segoe UI" pitchFamily="34" charset="0"/>
              </a:rPr>
              <a:t>小さいコード</a:t>
            </a:r>
            <a:endParaRPr kumimoji="1" lang="en-US" altLang="ja-JP" sz="24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400" dirty="0">
                <a:solidFill>
                  <a:srgbClr val="FFFFFF"/>
                </a:solidFill>
                <a:ea typeface="Segoe UI" pitchFamily="34" charset="0"/>
                <a:cs typeface="Segoe UI" pitchFamily="34" charset="0"/>
              </a:rPr>
              <a:t>ステートレス </a:t>
            </a:r>
            <a:r>
              <a:rPr kumimoji="1" lang="en-US" altLang="ja-JP" sz="2400" dirty="0">
                <a:solidFill>
                  <a:srgbClr val="FFFFFF"/>
                </a:solidFill>
                <a:ea typeface="Segoe UI" pitchFamily="34" charset="0"/>
                <a:cs typeface="Segoe UI" pitchFamily="34" charset="0"/>
              </a:rPr>
              <a:t>(</a:t>
            </a:r>
            <a:r>
              <a:rPr kumimoji="1" lang="ja-JP" altLang="en-US" sz="2400" dirty="0">
                <a:solidFill>
                  <a:srgbClr val="FFFFFF"/>
                </a:solidFill>
                <a:ea typeface="Segoe UI" pitchFamily="34" charset="0"/>
                <a:cs typeface="Segoe UI" pitchFamily="34" charset="0"/>
              </a:rPr>
              <a:t>毎回作って壊して何回も実行してよいもの</a:t>
            </a:r>
            <a:r>
              <a:rPr kumimoji="1" lang="en-US" altLang="ja-JP" sz="2400" dirty="0">
                <a:solidFill>
                  <a:srgbClr val="FFFFFF"/>
                </a:solidFill>
                <a:ea typeface="Segoe UI" pitchFamily="34" charset="0"/>
                <a:cs typeface="Segoe UI" pitchFamily="34" charset="0"/>
              </a:rPr>
              <a:t>)</a:t>
            </a:r>
          </a:p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400" dirty="0">
                <a:solidFill>
                  <a:srgbClr val="FFFFFF"/>
                </a:solidFill>
                <a:ea typeface="Segoe UI" pitchFamily="34" charset="0"/>
                <a:cs typeface="Segoe UI" pitchFamily="34" charset="0"/>
              </a:rPr>
              <a:t>短時間で終わる処理</a:t>
            </a:r>
          </a:p>
        </p:txBody>
      </p:sp>
    </p:spTree>
    <p:extLst>
      <p:ext uri="{BB962C8B-B14F-4D97-AF65-F5344CB8AC3E}">
        <p14:creationId xmlns:p14="http://schemas.microsoft.com/office/powerpoint/2010/main" val="397362788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DDE701A-879E-0178-EB9B-2B3776089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Durable Functions</a:t>
            </a:r>
            <a:r>
              <a:rPr kumimoji="1" lang="ja-JP" altLang="en-US" dirty="0"/>
              <a:t> とは</a:t>
            </a:r>
          </a:p>
        </p:txBody>
      </p:sp>
    </p:spTree>
    <p:extLst>
      <p:ext uri="{BB962C8B-B14F-4D97-AF65-F5344CB8AC3E}">
        <p14:creationId xmlns:p14="http://schemas.microsoft.com/office/powerpoint/2010/main" val="3816032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78A654E6-D3A4-1AA5-8354-2867D2890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Durable Functions </a:t>
            </a:r>
            <a:r>
              <a:rPr lang="ja-JP" altLang="en-US" dirty="0"/>
              <a:t>とは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DC79000-D2F6-0DBB-C831-4D72430563F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0" cy="1982081"/>
          </a:xfrm>
        </p:spPr>
        <p:txBody>
          <a:bodyPr/>
          <a:lstStyle/>
          <a:p>
            <a:r>
              <a:rPr lang="en-US" altLang="ja-JP" dirty="0"/>
              <a:t>Azure Functions </a:t>
            </a:r>
            <a:r>
              <a:rPr lang="ja-JP" altLang="en-US" dirty="0"/>
              <a:t>の拡張機能</a:t>
            </a:r>
            <a:endParaRPr lang="en-US" altLang="ja-JP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dirty="0"/>
              <a:t>長時間実行可能（数日以上）</a:t>
            </a:r>
            <a:endParaRPr lang="en-US" altLang="ja-JP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dirty="0"/>
              <a:t>耐久性がある（サーバーが再起動しても平気）</a:t>
            </a:r>
            <a:endParaRPr lang="en-US" altLang="ja-JP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dirty="0"/>
              <a:t>状態をもったオブジェクトを実装可能</a:t>
            </a:r>
            <a:endParaRPr lang="en-US" altLang="ja-JP" dirty="0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2E64F93-7B14-904C-EE04-5479867CBE09}"/>
              </a:ext>
            </a:extLst>
          </p:cNvPr>
          <p:cNvSpPr/>
          <p:nvPr/>
        </p:nvSpPr>
        <p:spPr bwMode="auto">
          <a:xfrm>
            <a:off x="876300" y="3867150"/>
            <a:ext cx="10306050" cy="230505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48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コードで書ける</a:t>
            </a:r>
            <a:endParaRPr kumimoji="1" lang="en-US" altLang="ja-JP" sz="4800" b="1" dirty="0">
              <a:solidFill>
                <a:srgbClr val="FFFFFF"/>
              </a:solidFill>
              <a:latin typeface="+mn-ea"/>
              <a:ea typeface="+mn-ea"/>
              <a:cs typeface="Segoe UI" pitchFamily="34" charset="0"/>
            </a:endParaRPr>
          </a:p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48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（</a:t>
            </a:r>
            <a:r>
              <a:rPr kumimoji="1" lang="en-US" altLang="ja-JP" sz="48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C#</a:t>
            </a:r>
            <a:r>
              <a:rPr kumimoji="1" lang="ja-JP" altLang="en-US" sz="48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、</a:t>
            </a:r>
            <a:r>
              <a:rPr kumimoji="1" lang="en-US" altLang="ja-JP" sz="48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Python</a:t>
            </a:r>
            <a:r>
              <a:rPr kumimoji="1" lang="ja-JP" altLang="en-US" sz="48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、</a:t>
            </a:r>
            <a:r>
              <a:rPr kumimoji="1" lang="en-US" altLang="ja-JP" sz="48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TypeScript </a:t>
            </a:r>
            <a:r>
              <a:rPr kumimoji="1" lang="ja-JP" altLang="en-US" sz="48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など</a:t>
            </a:r>
            <a:r>
              <a:rPr kumimoji="1" lang="en-US" altLang="ja-JP" sz="48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)</a:t>
            </a:r>
            <a:endParaRPr kumimoji="1" lang="ja-JP" altLang="en-US" sz="4800" b="1" dirty="0" err="1">
              <a:solidFill>
                <a:srgbClr val="FFFFFF"/>
              </a:solidFill>
              <a:latin typeface="+mn-ea"/>
              <a:ea typeface="+mn-ea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852832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普通の </a:t>
            </a:r>
            <a:r>
              <a:rPr lang="en-US" altLang="ja-JP" dirty="0"/>
              <a:t>Functions </a:t>
            </a:r>
            <a:r>
              <a:rPr lang="ja-JP" altLang="en-US" dirty="0"/>
              <a:t>と </a:t>
            </a:r>
            <a:r>
              <a:rPr lang="en-US" altLang="ja-JP" dirty="0"/>
              <a:t>Durable Functions </a:t>
            </a:r>
            <a:r>
              <a:rPr lang="ja-JP" altLang="en-US" dirty="0"/>
              <a:t>の違い</a:t>
            </a:r>
            <a:endParaRPr lang="ja-JP" dirty="0"/>
          </a:p>
        </p:txBody>
      </p:sp>
      <p:sp>
        <p:nvSpPr>
          <p:cNvPr id="3" name="Placeholder 12"/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2930033"/>
          </a:xfrm>
        </p:spPr>
        <p:txBody>
          <a:bodyPr/>
          <a:lstStyle/>
          <a:p>
            <a:pPr>
              <a:buNone/>
            </a:pPr>
            <a:r>
              <a:rPr lang="ja-JP" b="1" dirty="0"/>
              <a:t>普通の Functions</a:t>
            </a:r>
          </a:p>
          <a:p>
            <a:pPr>
              <a:buNone/>
            </a:pPr>
            <a:endParaRPr lang="ja-JP" dirty="0"/>
          </a:p>
          <a:p>
            <a:pPr lvl="0"/>
            <a:r>
              <a:rPr lang="ja-JP" dirty="0"/>
              <a:t>状態なし</a:t>
            </a:r>
          </a:p>
          <a:p>
            <a:pPr lvl="0"/>
            <a:r>
              <a:rPr lang="ja-JP" dirty="0"/>
              <a:t>タイムアウトあり</a:t>
            </a:r>
          </a:p>
          <a:p>
            <a:pPr lvl="0"/>
            <a:r>
              <a:rPr lang="ja-JP" altLang="en-US" dirty="0"/>
              <a:t>サーバーが再起動したら</a:t>
            </a:r>
            <a:br>
              <a:rPr lang="en-US" altLang="ja-JP" dirty="0"/>
            </a:br>
            <a:r>
              <a:rPr lang="ja-JP" altLang="en-US" dirty="0"/>
              <a:t>処理は終了</a:t>
            </a:r>
            <a:endParaRPr lang="ja-JP" dirty="0"/>
          </a:p>
        </p:txBody>
      </p:sp>
      <p:sp>
        <p:nvSpPr>
          <p:cNvPr id="4" name="Placeholder 13"/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2499146"/>
          </a:xfrm>
        </p:spPr>
        <p:txBody>
          <a:bodyPr/>
          <a:lstStyle/>
          <a:p>
            <a:pPr>
              <a:buNone/>
            </a:pPr>
            <a:r>
              <a:rPr lang="ja-JP" b="1" dirty="0"/>
              <a:t>Durable Functions</a:t>
            </a:r>
          </a:p>
          <a:p>
            <a:pPr>
              <a:buNone/>
            </a:pPr>
            <a:endParaRPr lang="ja-JP" dirty="0"/>
          </a:p>
          <a:p>
            <a:pPr lvl="0"/>
            <a:r>
              <a:rPr lang="ja-JP" dirty="0"/>
              <a:t>ステート永続化</a:t>
            </a:r>
          </a:p>
          <a:p>
            <a:pPr lvl="0"/>
            <a:r>
              <a:rPr lang="ja-JP" dirty="0"/>
              <a:t>長時間 OK</a:t>
            </a:r>
          </a:p>
          <a:p>
            <a:pPr lvl="0"/>
            <a:r>
              <a:rPr lang="ja-JP" altLang="en-US" dirty="0"/>
              <a:t>サーバーが再起動しても動く</a:t>
            </a:r>
            <a:endParaRPr lang="ja-JP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何故、長時間実行可能で耐久性がある？</a:t>
            </a:r>
            <a:endParaRPr lang="ja-JP" dirty="0"/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>
          <a:xfrm>
            <a:off x="457200" y="1600200"/>
            <a:ext cx="5800000" cy="947952"/>
          </a:xfrm>
        </p:spPr>
        <p:txBody>
          <a:bodyPr/>
          <a:lstStyle/>
          <a:p>
            <a:pPr marL="514350" lvl="0" indent="-514350">
              <a:buFont typeface="+mj-lt"/>
              <a:buAutoNum type="arabicPeriod"/>
            </a:pPr>
            <a:r>
              <a:rPr lang="ja-JP" dirty="0"/>
              <a:t>履歴を全部記録</a:t>
            </a:r>
          </a:p>
          <a:p>
            <a:pPr marL="514350" lvl="0" indent="-514350">
              <a:buFont typeface="+mj-lt"/>
              <a:buAutoNum type="arabicPeriod"/>
            </a:pPr>
            <a:r>
              <a:rPr lang="ja-JP" altLang="en-US" dirty="0"/>
              <a:t>何回も繰り返し再実行</a:t>
            </a:r>
            <a:endParaRPr lang="ja-JP" dirty="0"/>
          </a:p>
        </p:txBody>
      </p:sp>
      <p:sp>
        <p:nvSpPr>
          <p:cNvPr id="100" name="Label 100"/>
          <p:cNvSpPr txBox="1"/>
          <p:nvPr/>
        </p:nvSpPr>
        <p:spPr>
          <a:xfrm>
            <a:off x="6700000" y="1500000"/>
            <a:ext cx="330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altLang="en-US" sz="1600" b="1" dirty="0">
                <a:solidFill>
                  <a:srgbClr val="595959"/>
                </a:solidFill>
              </a:rPr>
              <a:t>何かの処理</a:t>
            </a:r>
            <a:endParaRPr lang="ja-JP" sz="1600" b="1" dirty="0">
              <a:solidFill>
                <a:srgbClr val="595959"/>
              </a:solidFill>
            </a:endParaRPr>
          </a:p>
        </p:txBody>
      </p:sp>
      <p:sp>
        <p:nvSpPr>
          <p:cNvPr id="101" name="Box 101"/>
          <p:cNvSpPr/>
          <p:nvPr/>
        </p:nvSpPr>
        <p:spPr>
          <a:xfrm>
            <a:off x="6700000" y="18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400" b="1" dirty="0">
                <a:solidFill>
                  <a:srgbClr val="000000"/>
                </a:solidFill>
              </a:rPr>
              <a:t>Start</a:t>
            </a:r>
          </a:p>
        </p:txBody>
      </p:sp>
      <p:sp>
        <p:nvSpPr>
          <p:cNvPr id="102" name="Box 102"/>
          <p:cNvSpPr/>
          <p:nvPr/>
        </p:nvSpPr>
        <p:spPr>
          <a:xfrm>
            <a:off x="7800000" y="18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400" b="1" dirty="0">
                <a:solidFill>
                  <a:srgbClr val="000000"/>
                </a:solidFill>
              </a:rPr>
              <a:t>A1</a:t>
            </a:r>
          </a:p>
        </p:txBody>
      </p:sp>
      <p:sp>
        <p:nvSpPr>
          <p:cNvPr id="103" name="Box 103"/>
          <p:cNvSpPr/>
          <p:nvPr/>
        </p:nvSpPr>
        <p:spPr>
          <a:xfrm>
            <a:off x="8900000" y="18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400" b="1" dirty="0">
                <a:solidFill>
                  <a:srgbClr val="000000"/>
                </a:solidFill>
              </a:rPr>
              <a:t>A2 </a:t>
            </a:r>
          </a:p>
        </p:txBody>
      </p:sp>
      <p:cxnSp>
        <p:nvCxnSpPr>
          <p:cNvPr id="104" name="Arrow 104"/>
          <p:cNvCxnSpPr/>
          <p:nvPr/>
        </p:nvCxnSpPr>
        <p:spPr>
          <a:xfrm>
            <a:off x="7600000" y="2100000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cxnSp>
        <p:nvCxnSpPr>
          <p:cNvPr id="105" name="Arrow 105"/>
          <p:cNvCxnSpPr/>
          <p:nvPr/>
        </p:nvCxnSpPr>
        <p:spPr>
          <a:xfrm>
            <a:off x="8700000" y="2100000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sp>
        <p:nvSpPr>
          <p:cNvPr id="106" name="Label 106"/>
          <p:cNvSpPr txBox="1"/>
          <p:nvPr/>
        </p:nvSpPr>
        <p:spPr>
          <a:xfrm>
            <a:off x="9800000" y="1700000"/>
            <a:ext cx="2361760" cy="80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sz="1800" b="1" dirty="0">
                <a:solidFill>
                  <a:srgbClr val="D13438"/>
                </a:solidFill>
              </a:rPr>
              <a:t>⚡ </a:t>
            </a:r>
            <a:r>
              <a:rPr lang="ja-JP" altLang="en-US" sz="1800" b="1" dirty="0">
                <a:solidFill>
                  <a:srgbClr val="D13438"/>
                </a:solidFill>
              </a:rPr>
              <a:t>基盤の再起動など</a:t>
            </a:r>
            <a:endParaRPr lang="ja-JP" sz="1800" b="1" dirty="0">
              <a:solidFill>
                <a:srgbClr val="D13438"/>
              </a:solidFill>
            </a:endParaRPr>
          </a:p>
        </p:txBody>
      </p:sp>
      <p:sp>
        <p:nvSpPr>
          <p:cNvPr id="107" name="Label 107"/>
          <p:cNvSpPr txBox="1"/>
          <p:nvPr/>
        </p:nvSpPr>
        <p:spPr>
          <a:xfrm>
            <a:off x="7150000" y="2635000"/>
            <a:ext cx="300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altLang="en-US" sz="1600" b="1" dirty="0">
                <a:solidFill>
                  <a:srgbClr val="595959"/>
                </a:solidFill>
              </a:rPr>
              <a:t>クラッシュしても</a:t>
            </a:r>
            <a:r>
              <a:rPr lang="ja-JP" sz="1600" b="1" dirty="0">
                <a:solidFill>
                  <a:srgbClr val="595959"/>
                </a:solidFill>
              </a:rPr>
              <a:t>履歴は残る</a:t>
            </a:r>
          </a:p>
        </p:txBody>
      </p:sp>
      <p:sp>
        <p:nvSpPr>
          <p:cNvPr id="108" name="Cyl 108"/>
          <p:cNvSpPr/>
          <p:nvPr/>
        </p:nvSpPr>
        <p:spPr>
          <a:xfrm>
            <a:off x="7300000" y="3000000"/>
            <a:ext cx="1400000" cy="900000"/>
          </a:xfrm>
          <a:prstGeom prst="can">
            <a:avLst/>
          </a:prstGeom>
          <a:solidFill>
            <a:srgbClr val="FFF4CE"/>
          </a:solidFill>
          <a:ln w="19050">
            <a:solidFill>
              <a:srgbClr val="F7630C"/>
            </a:solidFill>
          </a:ln>
        </p:spPr>
        <p:txBody>
          <a:bodyPr wrap="square" anchor="ctr"/>
          <a:lstStyle/>
          <a:p>
            <a:pPr algn="ctr">
              <a:buNone/>
            </a:pPr>
            <a:r>
              <a:rPr lang="en-US" altLang="ja-JP" sz="1400" b="1" dirty="0">
                <a:solidFill>
                  <a:srgbClr val="000000"/>
                </a:solidFill>
              </a:rPr>
              <a:t>Durable Task Scheduler</a:t>
            </a:r>
            <a:endParaRPr lang="ja-JP" sz="1400" b="1" dirty="0">
              <a:solidFill>
                <a:srgbClr val="000000"/>
              </a:solidFill>
            </a:endParaRPr>
          </a:p>
        </p:txBody>
      </p:sp>
      <p:sp>
        <p:nvSpPr>
          <p:cNvPr id="109" name="Label 109"/>
          <p:cNvSpPr txBox="1"/>
          <p:nvPr/>
        </p:nvSpPr>
        <p:spPr>
          <a:xfrm>
            <a:off x="8999999" y="3000000"/>
            <a:ext cx="2361761" cy="1198802"/>
          </a:xfrm>
          <a:prstGeom prst="rect">
            <a:avLst/>
          </a:prstGeom>
          <a:noFill/>
        </p:spPr>
        <p:txBody>
          <a:bodyPr wrap="square" lIns="18000" tIns="18000" rIns="18000" bIns="1800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ja-JP" sz="1400" dirty="0">
                <a:solidFill>
                  <a:srgbClr val="595959"/>
                </a:solidFill>
              </a:rPr>
              <a:t>Execution</a:t>
            </a:r>
            <a:r>
              <a:rPr lang="ja-JP" altLang="en-US" sz="1400" dirty="0">
                <a:solidFill>
                  <a:srgbClr val="595959"/>
                </a:solidFill>
              </a:rPr>
              <a:t> </a:t>
            </a:r>
            <a:r>
              <a:rPr lang="ja-JP" sz="1400" dirty="0">
                <a:solidFill>
                  <a:srgbClr val="595959"/>
                </a:solidFill>
              </a:rPr>
              <a:t>Started</a:t>
            </a:r>
            <a:endParaRPr lang="en-US" altLang="ja-JP" sz="1400" dirty="0">
              <a:solidFill>
                <a:srgbClr val="595959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ja-JP" sz="1400" dirty="0">
                <a:solidFill>
                  <a:srgbClr val="595959"/>
                </a:solidFill>
              </a:rPr>
              <a:t>A1 Scheduled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ja-JP" sz="1400" dirty="0">
                <a:solidFill>
                  <a:srgbClr val="595959"/>
                </a:solidFill>
              </a:rPr>
              <a:t>A1 Completed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ja-JP" sz="1400" dirty="0">
                <a:solidFill>
                  <a:srgbClr val="595959"/>
                </a:solidFill>
              </a:rPr>
              <a:t>A2 Scheduled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B0F2B7B-88C7-0CE7-89EC-C1ECA911DFC6}"/>
              </a:ext>
            </a:extLst>
          </p:cNvPr>
          <p:cNvSpPr txBox="1"/>
          <p:nvPr/>
        </p:nvSpPr>
        <p:spPr>
          <a:xfrm>
            <a:off x="8284183" y="1938502"/>
            <a:ext cx="4316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1800" b="1" dirty="0">
                <a:solidFill>
                  <a:srgbClr val="000000"/>
                </a:solidFill>
              </a:rPr>
              <a:t>✓</a:t>
            </a:r>
            <a:endParaRPr lang="ja-JP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0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0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00" grpId="0"/>
      <p:bldP spid="101" grpId="0" animBg="1"/>
      <p:bldP spid="102" grpId="0" uiExpand="1" build="allAtOnce" animBg="1"/>
      <p:bldP spid="103" grpId="0" animBg="1"/>
      <p:bldP spid="106" grpId="0"/>
      <p:bldP spid="107" grpId="0"/>
      <p:bldP spid="108" grpId="0" animBg="1"/>
      <p:bldP spid="1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3652F-1C79-47A0-6969-CF6C855A6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81C3D389-8455-CEC8-5D81-49DAF7004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何故、長時間実行可能で耐久性がある？</a:t>
            </a:r>
            <a:endParaRPr lang="ja-JP" dirty="0"/>
          </a:p>
        </p:txBody>
      </p:sp>
      <p:sp>
        <p:nvSpPr>
          <p:cNvPr id="3" name="Placeholder 10">
            <a:extLst>
              <a:ext uri="{FF2B5EF4-FFF2-40B4-BE49-F238E27FC236}">
                <a16:creationId xmlns:a16="http://schemas.microsoft.com/office/drawing/2014/main" id="{F3D87469-15D8-0292-0211-4DE62A4922F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57200" y="1600200"/>
            <a:ext cx="5800000" cy="947952"/>
          </a:xfrm>
        </p:spPr>
        <p:txBody>
          <a:bodyPr/>
          <a:lstStyle/>
          <a:p>
            <a:pPr marL="514350" lvl="0" indent="-514350">
              <a:buFont typeface="+mj-lt"/>
              <a:buAutoNum type="arabicPeriod"/>
            </a:pPr>
            <a:r>
              <a:rPr lang="ja-JP" altLang="ja-JP" dirty="0"/>
              <a:t>履歴を全部記録</a:t>
            </a:r>
          </a:p>
          <a:p>
            <a:pPr marL="514350" lvl="0" indent="-514350">
              <a:buFont typeface="+mj-lt"/>
              <a:buAutoNum type="arabicPeriod"/>
            </a:pPr>
            <a:r>
              <a:rPr lang="ja-JP" altLang="en-US" dirty="0"/>
              <a:t>何回も繰り返し再実行</a:t>
            </a:r>
            <a:endParaRPr lang="ja-JP" altLang="ja-JP" dirty="0"/>
          </a:p>
        </p:txBody>
      </p:sp>
      <p:sp>
        <p:nvSpPr>
          <p:cNvPr id="100" name="Label 100">
            <a:extLst>
              <a:ext uri="{FF2B5EF4-FFF2-40B4-BE49-F238E27FC236}">
                <a16:creationId xmlns:a16="http://schemas.microsoft.com/office/drawing/2014/main" id="{E11F8115-8FD4-BA53-193A-6E90379DDE74}"/>
              </a:ext>
            </a:extLst>
          </p:cNvPr>
          <p:cNvSpPr txBox="1"/>
          <p:nvPr/>
        </p:nvSpPr>
        <p:spPr>
          <a:xfrm>
            <a:off x="6700000" y="1500000"/>
            <a:ext cx="330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altLang="en-US" sz="1600" b="1" dirty="0">
                <a:solidFill>
                  <a:srgbClr val="595959"/>
                </a:solidFill>
              </a:rPr>
              <a:t>何かの処理</a:t>
            </a:r>
            <a:endParaRPr lang="ja-JP" sz="1600" b="1" dirty="0">
              <a:solidFill>
                <a:srgbClr val="595959"/>
              </a:solidFill>
            </a:endParaRPr>
          </a:p>
        </p:txBody>
      </p:sp>
      <p:sp>
        <p:nvSpPr>
          <p:cNvPr id="101" name="Box 101">
            <a:extLst>
              <a:ext uri="{FF2B5EF4-FFF2-40B4-BE49-F238E27FC236}">
                <a16:creationId xmlns:a16="http://schemas.microsoft.com/office/drawing/2014/main" id="{C392DB09-C827-3C03-47E7-423A6D9FE680}"/>
              </a:ext>
            </a:extLst>
          </p:cNvPr>
          <p:cNvSpPr/>
          <p:nvPr/>
        </p:nvSpPr>
        <p:spPr>
          <a:xfrm>
            <a:off x="6700000" y="18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400" b="1" dirty="0">
                <a:solidFill>
                  <a:srgbClr val="000000"/>
                </a:solidFill>
              </a:rPr>
              <a:t>Start</a:t>
            </a:r>
          </a:p>
        </p:txBody>
      </p:sp>
      <p:sp>
        <p:nvSpPr>
          <p:cNvPr id="103" name="Box 103">
            <a:extLst>
              <a:ext uri="{FF2B5EF4-FFF2-40B4-BE49-F238E27FC236}">
                <a16:creationId xmlns:a16="http://schemas.microsoft.com/office/drawing/2014/main" id="{3328B9AA-4304-3AD6-C97F-936CD031F180}"/>
              </a:ext>
            </a:extLst>
          </p:cNvPr>
          <p:cNvSpPr/>
          <p:nvPr/>
        </p:nvSpPr>
        <p:spPr>
          <a:xfrm>
            <a:off x="8900000" y="18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400" b="1" dirty="0">
                <a:solidFill>
                  <a:srgbClr val="000000"/>
                </a:solidFill>
              </a:rPr>
              <a:t>A2 </a:t>
            </a:r>
          </a:p>
        </p:txBody>
      </p:sp>
      <p:cxnSp>
        <p:nvCxnSpPr>
          <p:cNvPr id="104" name="Arrow 104">
            <a:extLst>
              <a:ext uri="{FF2B5EF4-FFF2-40B4-BE49-F238E27FC236}">
                <a16:creationId xmlns:a16="http://schemas.microsoft.com/office/drawing/2014/main" id="{11E9D845-3404-820E-F682-004A11EBF315}"/>
              </a:ext>
            </a:extLst>
          </p:cNvPr>
          <p:cNvCxnSpPr/>
          <p:nvPr/>
        </p:nvCxnSpPr>
        <p:spPr>
          <a:xfrm>
            <a:off x="7600000" y="2100000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cxnSp>
        <p:nvCxnSpPr>
          <p:cNvPr id="105" name="Arrow 105">
            <a:extLst>
              <a:ext uri="{FF2B5EF4-FFF2-40B4-BE49-F238E27FC236}">
                <a16:creationId xmlns:a16="http://schemas.microsoft.com/office/drawing/2014/main" id="{57685D83-99BF-06E2-36CE-74561D26AFFB}"/>
              </a:ext>
            </a:extLst>
          </p:cNvPr>
          <p:cNvCxnSpPr/>
          <p:nvPr/>
        </p:nvCxnSpPr>
        <p:spPr>
          <a:xfrm>
            <a:off x="8700000" y="2100000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sp>
        <p:nvSpPr>
          <p:cNvPr id="108" name="Cyl 108">
            <a:extLst>
              <a:ext uri="{FF2B5EF4-FFF2-40B4-BE49-F238E27FC236}">
                <a16:creationId xmlns:a16="http://schemas.microsoft.com/office/drawing/2014/main" id="{265E370B-1B3C-EF9E-25DA-66F6F08F8A68}"/>
              </a:ext>
            </a:extLst>
          </p:cNvPr>
          <p:cNvSpPr/>
          <p:nvPr/>
        </p:nvSpPr>
        <p:spPr>
          <a:xfrm>
            <a:off x="7300000" y="3000000"/>
            <a:ext cx="1400000" cy="900000"/>
          </a:xfrm>
          <a:prstGeom prst="can">
            <a:avLst/>
          </a:prstGeom>
          <a:solidFill>
            <a:srgbClr val="FFF4CE"/>
          </a:solidFill>
          <a:ln w="19050">
            <a:solidFill>
              <a:srgbClr val="F7630C"/>
            </a:solidFill>
          </a:ln>
        </p:spPr>
        <p:txBody>
          <a:bodyPr wrap="square" anchor="ctr"/>
          <a:lstStyle/>
          <a:p>
            <a:pPr algn="ctr">
              <a:buNone/>
            </a:pPr>
            <a:r>
              <a:rPr lang="en-US" altLang="ja-JP" sz="1400" b="1" dirty="0">
                <a:solidFill>
                  <a:srgbClr val="000000"/>
                </a:solidFill>
              </a:rPr>
              <a:t>Durable Task Scheduler</a:t>
            </a:r>
            <a:endParaRPr lang="ja-JP" sz="1400" b="1" dirty="0">
              <a:solidFill>
                <a:srgbClr val="000000"/>
              </a:solidFill>
            </a:endParaRPr>
          </a:p>
        </p:txBody>
      </p:sp>
      <p:sp>
        <p:nvSpPr>
          <p:cNvPr id="114" name="Box 114">
            <a:extLst>
              <a:ext uri="{FF2B5EF4-FFF2-40B4-BE49-F238E27FC236}">
                <a16:creationId xmlns:a16="http://schemas.microsoft.com/office/drawing/2014/main" id="{AE6A723C-2324-CB23-0E62-BD6BE0C905C4}"/>
              </a:ext>
            </a:extLst>
          </p:cNvPr>
          <p:cNvSpPr/>
          <p:nvPr/>
        </p:nvSpPr>
        <p:spPr>
          <a:xfrm>
            <a:off x="6700000" y="4858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300" b="1" dirty="0">
                <a:solidFill>
                  <a:srgbClr val="000000"/>
                </a:solidFill>
              </a:rPr>
              <a:t>Restart</a:t>
            </a:r>
          </a:p>
        </p:txBody>
      </p:sp>
      <p:sp>
        <p:nvSpPr>
          <p:cNvPr id="115" name="Box 115">
            <a:extLst>
              <a:ext uri="{FF2B5EF4-FFF2-40B4-BE49-F238E27FC236}">
                <a16:creationId xmlns:a16="http://schemas.microsoft.com/office/drawing/2014/main" id="{AF8E7E45-338A-8611-E3F9-6FB3C32DF324}"/>
              </a:ext>
            </a:extLst>
          </p:cNvPr>
          <p:cNvSpPr/>
          <p:nvPr/>
        </p:nvSpPr>
        <p:spPr>
          <a:xfrm>
            <a:off x="7800000" y="4858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en-US" altLang="ja-JP" sz="1300" b="1" dirty="0">
                <a:solidFill>
                  <a:srgbClr val="000000"/>
                </a:solidFill>
              </a:rPr>
              <a:t>A1</a:t>
            </a:r>
          </a:p>
          <a:p>
            <a:pPr algn="ctr">
              <a:buNone/>
            </a:pPr>
            <a:r>
              <a:rPr lang="en-US" altLang="ja-JP" sz="1300" b="1" dirty="0">
                <a:solidFill>
                  <a:srgbClr val="000000"/>
                </a:solidFill>
              </a:rPr>
              <a:t>Replay</a:t>
            </a:r>
            <a:endParaRPr lang="ja-JP" sz="1300" b="1" dirty="0">
              <a:solidFill>
                <a:srgbClr val="000000"/>
              </a:solidFill>
            </a:endParaRPr>
          </a:p>
        </p:txBody>
      </p:sp>
      <p:sp>
        <p:nvSpPr>
          <p:cNvPr id="116" name="Box 116">
            <a:extLst>
              <a:ext uri="{FF2B5EF4-FFF2-40B4-BE49-F238E27FC236}">
                <a16:creationId xmlns:a16="http://schemas.microsoft.com/office/drawing/2014/main" id="{0995E368-B9A9-D6B0-3975-37BD1C9BC9B7}"/>
              </a:ext>
            </a:extLst>
          </p:cNvPr>
          <p:cNvSpPr/>
          <p:nvPr/>
        </p:nvSpPr>
        <p:spPr>
          <a:xfrm>
            <a:off x="8900000" y="4858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300" b="1" dirty="0">
                <a:solidFill>
                  <a:srgbClr val="000000"/>
                </a:solidFill>
              </a:rPr>
              <a:t>A</a:t>
            </a:r>
            <a:r>
              <a:rPr lang="en-US" altLang="ja-JP" sz="1300" b="1" dirty="0">
                <a:solidFill>
                  <a:srgbClr val="000000"/>
                </a:solidFill>
              </a:rPr>
              <a:t>2</a:t>
            </a:r>
            <a:endParaRPr lang="ja-JP" sz="1300" b="1" dirty="0">
              <a:solidFill>
                <a:srgbClr val="000000"/>
              </a:solidFill>
            </a:endParaRPr>
          </a:p>
        </p:txBody>
      </p:sp>
      <p:sp>
        <p:nvSpPr>
          <p:cNvPr id="117" name="Box 117">
            <a:extLst>
              <a:ext uri="{FF2B5EF4-FFF2-40B4-BE49-F238E27FC236}">
                <a16:creationId xmlns:a16="http://schemas.microsoft.com/office/drawing/2014/main" id="{E7C26228-7CBD-2E09-6E5E-D1926733A9D1}"/>
              </a:ext>
            </a:extLst>
          </p:cNvPr>
          <p:cNvSpPr/>
          <p:nvPr/>
        </p:nvSpPr>
        <p:spPr>
          <a:xfrm>
            <a:off x="10000000" y="4858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300" b="1" dirty="0">
                <a:solidFill>
                  <a:srgbClr val="000000"/>
                </a:solidFill>
              </a:rPr>
              <a:t>Done</a:t>
            </a:r>
          </a:p>
        </p:txBody>
      </p:sp>
      <p:cxnSp>
        <p:nvCxnSpPr>
          <p:cNvPr id="118" name="Arrow 118">
            <a:extLst>
              <a:ext uri="{FF2B5EF4-FFF2-40B4-BE49-F238E27FC236}">
                <a16:creationId xmlns:a16="http://schemas.microsoft.com/office/drawing/2014/main" id="{DE093E88-209B-DBF4-BCEE-9095EC44B9E2}"/>
              </a:ext>
            </a:extLst>
          </p:cNvPr>
          <p:cNvCxnSpPr/>
          <p:nvPr/>
        </p:nvCxnSpPr>
        <p:spPr>
          <a:xfrm>
            <a:off x="7600000" y="5108000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cxnSp>
        <p:nvCxnSpPr>
          <p:cNvPr id="119" name="Arrow 119">
            <a:extLst>
              <a:ext uri="{FF2B5EF4-FFF2-40B4-BE49-F238E27FC236}">
                <a16:creationId xmlns:a16="http://schemas.microsoft.com/office/drawing/2014/main" id="{7E8EE59A-F38C-B867-B0B4-F172CBB628F1}"/>
              </a:ext>
            </a:extLst>
          </p:cNvPr>
          <p:cNvCxnSpPr/>
          <p:nvPr/>
        </p:nvCxnSpPr>
        <p:spPr>
          <a:xfrm>
            <a:off x="8700000" y="5108000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cxnSp>
        <p:nvCxnSpPr>
          <p:cNvPr id="120" name="Arrow 120">
            <a:extLst>
              <a:ext uri="{FF2B5EF4-FFF2-40B4-BE49-F238E27FC236}">
                <a16:creationId xmlns:a16="http://schemas.microsoft.com/office/drawing/2014/main" id="{D292E995-F421-19E0-2C16-3D6BB6575438}"/>
              </a:ext>
            </a:extLst>
          </p:cNvPr>
          <p:cNvCxnSpPr/>
          <p:nvPr/>
        </p:nvCxnSpPr>
        <p:spPr>
          <a:xfrm>
            <a:off x="9800000" y="5108000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sp>
        <p:nvSpPr>
          <p:cNvPr id="6" name="Label 109">
            <a:extLst>
              <a:ext uri="{FF2B5EF4-FFF2-40B4-BE49-F238E27FC236}">
                <a16:creationId xmlns:a16="http://schemas.microsoft.com/office/drawing/2014/main" id="{EEF96681-EBD5-0FDD-3759-DE7BB094A3DC}"/>
              </a:ext>
            </a:extLst>
          </p:cNvPr>
          <p:cNvSpPr txBox="1"/>
          <p:nvPr/>
        </p:nvSpPr>
        <p:spPr>
          <a:xfrm>
            <a:off x="8999999" y="3000000"/>
            <a:ext cx="2143397" cy="1198802"/>
          </a:xfrm>
          <a:prstGeom prst="rect">
            <a:avLst/>
          </a:prstGeom>
          <a:noFill/>
        </p:spPr>
        <p:txBody>
          <a:bodyPr wrap="square" lIns="18000" tIns="18000" rIns="18000" bIns="1800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ja-JP" sz="1400" dirty="0">
                <a:solidFill>
                  <a:srgbClr val="595959"/>
                </a:solidFill>
              </a:rPr>
              <a:t>Execution</a:t>
            </a:r>
            <a:r>
              <a:rPr lang="en-US" altLang="ja-JP" sz="1400" dirty="0">
                <a:solidFill>
                  <a:srgbClr val="595959"/>
                </a:solidFill>
              </a:rPr>
              <a:t> </a:t>
            </a:r>
            <a:r>
              <a:rPr lang="ja-JP" sz="1400" dirty="0">
                <a:solidFill>
                  <a:srgbClr val="595959"/>
                </a:solidFill>
              </a:rPr>
              <a:t>Started</a:t>
            </a:r>
            <a:endParaRPr lang="en-US" altLang="ja-JP" sz="1400" dirty="0">
              <a:solidFill>
                <a:srgbClr val="595959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ja-JP" sz="1400" dirty="0">
                <a:solidFill>
                  <a:srgbClr val="595959"/>
                </a:solidFill>
              </a:rPr>
              <a:t>A1 Scheduled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ja-JP" sz="1400" dirty="0">
                <a:solidFill>
                  <a:srgbClr val="595959"/>
                </a:solidFill>
              </a:rPr>
              <a:t>A1 Completed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ja-JP" sz="1400" dirty="0">
                <a:solidFill>
                  <a:srgbClr val="595959"/>
                </a:solidFill>
              </a:rPr>
              <a:t>A2 Scheduled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ja-JP" sz="1400" dirty="0">
                <a:solidFill>
                  <a:srgbClr val="595959"/>
                </a:solidFill>
              </a:rPr>
              <a:t>A2 Completed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ja-JP" sz="1400" dirty="0">
                <a:solidFill>
                  <a:srgbClr val="595959"/>
                </a:solidFill>
              </a:rPr>
              <a:t>Execution Completed</a:t>
            </a:r>
            <a:endParaRPr lang="ja-JP" sz="1400" dirty="0">
              <a:solidFill>
                <a:srgbClr val="595959"/>
              </a:solidFill>
            </a:endParaRPr>
          </a:p>
        </p:txBody>
      </p:sp>
      <p:sp>
        <p:nvSpPr>
          <p:cNvPr id="7" name="Label 107">
            <a:extLst>
              <a:ext uri="{FF2B5EF4-FFF2-40B4-BE49-F238E27FC236}">
                <a16:creationId xmlns:a16="http://schemas.microsoft.com/office/drawing/2014/main" id="{006691AF-1935-84E7-FF62-3AAC6C1CB216}"/>
              </a:ext>
            </a:extLst>
          </p:cNvPr>
          <p:cNvSpPr txBox="1"/>
          <p:nvPr/>
        </p:nvSpPr>
        <p:spPr>
          <a:xfrm>
            <a:off x="7150000" y="2635000"/>
            <a:ext cx="300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altLang="en-US" sz="1600" b="1" dirty="0">
                <a:solidFill>
                  <a:srgbClr val="595959"/>
                </a:solidFill>
              </a:rPr>
              <a:t>クラッシュしても</a:t>
            </a:r>
            <a:r>
              <a:rPr lang="ja-JP" sz="1600" b="1" dirty="0">
                <a:solidFill>
                  <a:srgbClr val="595959"/>
                </a:solidFill>
              </a:rPr>
              <a:t>履歴は残る</a:t>
            </a:r>
          </a:p>
        </p:txBody>
      </p:sp>
      <p:sp>
        <p:nvSpPr>
          <p:cNvPr id="9" name="Box 102">
            <a:extLst>
              <a:ext uri="{FF2B5EF4-FFF2-40B4-BE49-F238E27FC236}">
                <a16:creationId xmlns:a16="http://schemas.microsoft.com/office/drawing/2014/main" id="{0625970A-86DB-232F-28AC-192141739491}"/>
              </a:ext>
            </a:extLst>
          </p:cNvPr>
          <p:cNvSpPr/>
          <p:nvPr/>
        </p:nvSpPr>
        <p:spPr>
          <a:xfrm>
            <a:off x="7800000" y="18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400" b="1" dirty="0">
                <a:solidFill>
                  <a:srgbClr val="000000"/>
                </a:solidFill>
              </a:rPr>
              <a:t>A1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7D92C03-80BC-1C06-EB80-DD2E2D986CB6}"/>
              </a:ext>
            </a:extLst>
          </p:cNvPr>
          <p:cNvSpPr txBox="1"/>
          <p:nvPr/>
        </p:nvSpPr>
        <p:spPr>
          <a:xfrm>
            <a:off x="8284183" y="1938502"/>
            <a:ext cx="4316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1800" b="1" dirty="0">
                <a:solidFill>
                  <a:srgbClr val="000000"/>
                </a:solidFill>
              </a:rPr>
              <a:t>✓</a:t>
            </a:r>
            <a:endParaRPr lang="ja-JP" altLang="en-US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3078F85-AF6E-9593-217E-97E813CF6497}"/>
              </a:ext>
            </a:extLst>
          </p:cNvPr>
          <p:cNvSpPr txBox="1"/>
          <p:nvPr/>
        </p:nvSpPr>
        <p:spPr>
          <a:xfrm>
            <a:off x="9384183" y="4941382"/>
            <a:ext cx="4316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1800" b="1" dirty="0">
                <a:solidFill>
                  <a:srgbClr val="000000"/>
                </a:solidFill>
              </a:rPr>
              <a:t>✓</a:t>
            </a: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331EC23-EBD7-435D-B6D6-2408EB448F8E}"/>
              </a:ext>
            </a:extLst>
          </p:cNvPr>
          <p:cNvSpPr txBox="1"/>
          <p:nvPr/>
        </p:nvSpPr>
        <p:spPr>
          <a:xfrm>
            <a:off x="7711992" y="4423335"/>
            <a:ext cx="12880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1800" b="1" dirty="0">
                <a:solidFill>
                  <a:srgbClr val="595959"/>
                </a:solidFill>
              </a:rPr>
              <a:t> → Replay</a:t>
            </a:r>
            <a:endParaRPr lang="ja-JP" altLang="en-US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CAE128B5-5BCD-004E-1E91-3E16700B6D0C}"/>
              </a:ext>
            </a:extLst>
          </p:cNvPr>
          <p:cNvSpPr txBox="1"/>
          <p:nvPr/>
        </p:nvSpPr>
        <p:spPr>
          <a:xfrm>
            <a:off x="8800000" y="4429195"/>
            <a:ext cx="14851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ja-JP" altLang="ja-JP" sz="1800" b="1" dirty="0">
                <a:solidFill>
                  <a:srgbClr val="595959"/>
                </a:solidFill>
              </a:rPr>
              <a:t> → 続きから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A623206-D20A-90E5-1ED4-FB9EFC59146A}"/>
              </a:ext>
            </a:extLst>
          </p:cNvPr>
          <p:cNvSpPr txBox="1"/>
          <p:nvPr/>
        </p:nvSpPr>
        <p:spPr>
          <a:xfrm>
            <a:off x="7009832" y="4429002"/>
            <a:ext cx="10423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ja-JP" altLang="ja-JP" sz="1800" b="1" dirty="0">
                <a:solidFill>
                  <a:srgbClr val="595959"/>
                </a:solidFill>
              </a:rPr>
              <a:t>再開</a:t>
            </a:r>
          </a:p>
        </p:txBody>
      </p:sp>
      <p:sp>
        <p:nvSpPr>
          <p:cNvPr id="4" name="Label 106">
            <a:extLst>
              <a:ext uri="{FF2B5EF4-FFF2-40B4-BE49-F238E27FC236}">
                <a16:creationId xmlns:a16="http://schemas.microsoft.com/office/drawing/2014/main" id="{FDDB289F-E7AF-D39D-C9E9-D09C96BFF146}"/>
              </a:ext>
            </a:extLst>
          </p:cNvPr>
          <p:cNvSpPr txBox="1"/>
          <p:nvPr/>
        </p:nvSpPr>
        <p:spPr>
          <a:xfrm>
            <a:off x="9800000" y="1700000"/>
            <a:ext cx="2361760" cy="80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sz="1800" b="1" dirty="0">
                <a:solidFill>
                  <a:srgbClr val="D13438"/>
                </a:solidFill>
              </a:rPr>
              <a:t>⚡ </a:t>
            </a:r>
            <a:r>
              <a:rPr lang="ja-JP" altLang="en-US" sz="1800" b="1" dirty="0">
                <a:solidFill>
                  <a:srgbClr val="D13438"/>
                </a:solidFill>
              </a:rPr>
              <a:t>基盤の再起動など</a:t>
            </a:r>
            <a:endParaRPr lang="ja-JP" sz="1800" b="1" dirty="0">
              <a:solidFill>
                <a:srgbClr val="D1343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3190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" grpId="0" animBg="1"/>
      <p:bldP spid="116" grpId="0" animBg="1"/>
      <p:bldP spid="117" grpId="0" animBg="1"/>
      <p:bldP spid="12" grpId="0"/>
      <p:bldP spid="5" grpId="0"/>
      <p:bldP spid="1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Durable Functions </a:t>
            </a:r>
            <a:r>
              <a:rPr lang="ja-JP" altLang="en-US" dirty="0"/>
              <a:t>の登場人物</a:t>
            </a:r>
            <a:endParaRPr lang="ja-JP" dirty="0"/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>
          <a:xfrm>
            <a:off x="457200" y="1600200"/>
            <a:ext cx="6251792" cy="1698927"/>
          </a:xfrm>
        </p:spPr>
        <p:txBody>
          <a:bodyPr/>
          <a:lstStyle/>
          <a:p>
            <a:r>
              <a:rPr lang="ja-JP" altLang="ja-JP" sz="2400" dirty="0"/>
              <a:t>クライアント</a:t>
            </a:r>
            <a:r>
              <a:rPr lang="en-US" altLang="ja-JP" sz="2400" dirty="0"/>
              <a:t>  		</a:t>
            </a:r>
            <a:r>
              <a:rPr lang="ja-JP" altLang="en-US" sz="2400" dirty="0"/>
              <a:t>処理を</a:t>
            </a:r>
            <a:r>
              <a:rPr lang="ja-JP" altLang="ja-JP" sz="2400" dirty="0"/>
              <a:t>起動</a:t>
            </a:r>
            <a:r>
              <a:rPr lang="ja-JP" altLang="en-US" sz="2400" dirty="0"/>
              <a:t>する人</a:t>
            </a:r>
            <a:endParaRPr lang="ja-JP" altLang="ja-JP" sz="2400" dirty="0"/>
          </a:p>
          <a:p>
            <a:pPr lvl="0"/>
            <a:r>
              <a:rPr lang="ja-JP" sz="2400" dirty="0"/>
              <a:t>オーケストレーター</a:t>
            </a:r>
            <a:r>
              <a:rPr lang="en-US" altLang="ja-JP" sz="2400" dirty="0"/>
              <a:t> 	</a:t>
            </a:r>
            <a:r>
              <a:rPr lang="ja-JP" sz="2400" dirty="0"/>
              <a:t>流れを書く</a:t>
            </a:r>
            <a:r>
              <a:rPr lang="ja-JP" altLang="en-US" sz="2400" dirty="0"/>
              <a:t>所</a:t>
            </a:r>
            <a:endParaRPr lang="ja-JP" sz="2400" dirty="0"/>
          </a:p>
          <a:p>
            <a:pPr lvl="0"/>
            <a:r>
              <a:rPr lang="ja-JP" sz="2400" dirty="0"/>
              <a:t>アクティビティ</a:t>
            </a:r>
            <a:r>
              <a:rPr lang="en-US" altLang="ja-JP" sz="2400" dirty="0"/>
              <a:t> 		</a:t>
            </a:r>
            <a:r>
              <a:rPr lang="ja-JP" sz="2400" dirty="0"/>
              <a:t>処理</a:t>
            </a:r>
            <a:r>
              <a:rPr lang="ja-JP" altLang="en-US" sz="2400" dirty="0"/>
              <a:t>をする所</a:t>
            </a:r>
            <a:endParaRPr lang="ja-JP" sz="2400" dirty="0"/>
          </a:p>
          <a:p>
            <a:pPr lvl="0"/>
            <a:r>
              <a:rPr lang="ja-JP" sz="2400" dirty="0"/>
              <a:t>バックエンド</a:t>
            </a:r>
            <a:r>
              <a:rPr lang="en-US" altLang="ja-JP" sz="2400" dirty="0"/>
              <a:t> 		</a:t>
            </a:r>
            <a:r>
              <a:rPr lang="ja-JP" sz="2400" dirty="0"/>
              <a:t>履歴を保存</a:t>
            </a:r>
          </a:p>
        </p:txBody>
      </p:sp>
      <p:sp>
        <p:nvSpPr>
          <p:cNvPr id="100" name="Box 100"/>
          <p:cNvSpPr/>
          <p:nvPr/>
        </p:nvSpPr>
        <p:spPr>
          <a:xfrm>
            <a:off x="6433992" y="2625123"/>
            <a:ext cx="1600000" cy="65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Client</a:t>
            </a:r>
          </a:p>
        </p:txBody>
      </p:sp>
      <p:sp>
        <p:nvSpPr>
          <p:cNvPr id="101" name="Box 101"/>
          <p:cNvSpPr/>
          <p:nvPr/>
        </p:nvSpPr>
        <p:spPr>
          <a:xfrm>
            <a:off x="8383992" y="2625123"/>
            <a:ext cx="1600000" cy="65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Orchestrator</a:t>
            </a:r>
          </a:p>
        </p:txBody>
      </p:sp>
      <p:sp>
        <p:nvSpPr>
          <p:cNvPr id="102" name="Box 102"/>
          <p:cNvSpPr/>
          <p:nvPr/>
        </p:nvSpPr>
        <p:spPr>
          <a:xfrm>
            <a:off x="10333992" y="2625123"/>
            <a:ext cx="1600000" cy="650000"/>
          </a:xfrm>
          <a:prstGeom prst="roundRect">
            <a:avLst>
              <a:gd name="adj" fmla="val 10000"/>
            </a:avLst>
          </a:prstGeom>
          <a:solidFill>
            <a:srgbClr val="FFF4CE"/>
          </a:solidFill>
          <a:ln w="19050">
            <a:solidFill>
              <a:srgbClr val="F7630C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Backend (DTS)</a:t>
            </a:r>
          </a:p>
        </p:txBody>
      </p:sp>
      <p:sp>
        <p:nvSpPr>
          <p:cNvPr id="103" name="Box 103"/>
          <p:cNvSpPr/>
          <p:nvPr/>
        </p:nvSpPr>
        <p:spPr>
          <a:xfrm>
            <a:off x="6883992" y="4450123"/>
            <a:ext cx="1400000" cy="65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300" b="1" dirty="0">
                <a:solidFill>
                  <a:srgbClr val="000000"/>
                </a:solidFill>
              </a:rPr>
              <a:t>Activity 1</a:t>
            </a:r>
          </a:p>
        </p:txBody>
      </p:sp>
      <p:sp>
        <p:nvSpPr>
          <p:cNvPr id="104" name="Box 104"/>
          <p:cNvSpPr/>
          <p:nvPr/>
        </p:nvSpPr>
        <p:spPr>
          <a:xfrm>
            <a:off x="8483992" y="4450123"/>
            <a:ext cx="1400000" cy="65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300" b="1" dirty="0">
                <a:solidFill>
                  <a:srgbClr val="000000"/>
                </a:solidFill>
              </a:rPr>
              <a:t>Activity 2</a:t>
            </a:r>
          </a:p>
        </p:txBody>
      </p:sp>
      <p:sp>
        <p:nvSpPr>
          <p:cNvPr id="105" name="Box 105"/>
          <p:cNvSpPr/>
          <p:nvPr/>
        </p:nvSpPr>
        <p:spPr>
          <a:xfrm>
            <a:off x="10083992" y="4450123"/>
            <a:ext cx="1400000" cy="65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300" b="1" dirty="0">
                <a:solidFill>
                  <a:srgbClr val="000000"/>
                </a:solidFill>
              </a:rPr>
              <a:t>Activity 3</a:t>
            </a:r>
          </a:p>
        </p:txBody>
      </p:sp>
      <p:cxnSp>
        <p:nvCxnSpPr>
          <p:cNvPr id="106" name="Arrow 106"/>
          <p:cNvCxnSpPr>
            <a:cxnSpLocks/>
            <a:stCxn id="100" idx="3"/>
          </p:cNvCxnSpPr>
          <p:nvPr/>
        </p:nvCxnSpPr>
        <p:spPr>
          <a:xfrm>
            <a:off x="8033992" y="2950123"/>
            <a:ext cx="380000" cy="1"/>
          </a:xfrm>
          <a:prstGeom prst="straightConnector1">
            <a:avLst/>
          </a:prstGeom>
          <a:ln w="28575">
            <a:solidFill>
              <a:srgbClr val="0078D4"/>
            </a:solidFill>
            <a:tailEnd type="triangle" w="med" len="med"/>
          </a:ln>
        </p:spPr>
      </p:cxnSp>
      <p:cxnSp>
        <p:nvCxnSpPr>
          <p:cNvPr id="107" name="DArrow 107"/>
          <p:cNvCxnSpPr/>
          <p:nvPr/>
        </p:nvCxnSpPr>
        <p:spPr>
          <a:xfrm>
            <a:off x="9953992" y="2950123"/>
            <a:ext cx="410000" cy="1"/>
          </a:xfrm>
          <a:prstGeom prst="straightConnector1">
            <a:avLst/>
          </a:prstGeom>
          <a:ln w="28575">
            <a:solidFill>
              <a:srgbClr val="F7630C"/>
            </a:solidFill>
            <a:headEnd type="triangle" w="med" len="med"/>
            <a:tailEnd type="triangle" w="med" len="med"/>
          </a:ln>
        </p:spPr>
      </p:cxnSp>
      <p:cxnSp>
        <p:nvCxnSpPr>
          <p:cNvPr id="108" name="Arrow 108"/>
          <p:cNvCxnSpPr/>
          <p:nvPr/>
        </p:nvCxnSpPr>
        <p:spPr>
          <a:xfrm flipH="1">
            <a:off x="7583992" y="3275123"/>
            <a:ext cx="1600000" cy="1145000"/>
          </a:xfrm>
          <a:prstGeom prst="straightConnector1">
            <a:avLst/>
          </a:prstGeom>
          <a:ln w="19050">
            <a:solidFill>
              <a:srgbClr val="107C10"/>
            </a:solidFill>
            <a:tailEnd type="triangle" w="med" len="med"/>
          </a:ln>
        </p:spPr>
      </p:cxnSp>
      <p:cxnSp>
        <p:nvCxnSpPr>
          <p:cNvPr id="109" name="Arrow 109"/>
          <p:cNvCxnSpPr/>
          <p:nvPr/>
        </p:nvCxnSpPr>
        <p:spPr>
          <a:xfrm>
            <a:off x="9183992" y="3275123"/>
            <a:ext cx="1" cy="1145000"/>
          </a:xfrm>
          <a:prstGeom prst="straightConnector1">
            <a:avLst/>
          </a:prstGeom>
          <a:ln w="19050">
            <a:solidFill>
              <a:srgbClr val="107C10"/>
            </a:solidFill>
            <a:tailEnd type="triangle" w="med" len="med"/>
          </a:ln>
        </p:spPr>
      </p:cxnSp>
      <p:cxnSp>
        <p:nvCxnSpPr>
          <p:cNvPr id="110" name="Arrow 110"/>
          <p:cNvCxnSpPr/>
          <p:nvPr/>
        </p:nvCxnSpPr>
        <p:spPr>
          <a:xfrm>
            <a:off x="9183992" y="3275123"/>
            <a:ext cx="1600000" cy="1145000"/>
          </a:xfrm>
          <a:prstGeom prst="straightConnector1">
            <a:avLst/>
          </a:prstGeom>
          <a:ln w="19050">
            <a:solidFill>
              <a:srgbClr val="107C10"/>
            </a:solidFill>
            <a:tailEnd type="triangle" w="med" len="med"/>
          </a:ln>
        </p:spPr>
      </p:cxnSp>
      <p:sp>
        <p:nvSpPr>
          <p:cNvPr id="111" name="Label 111"/>
          <p:cNvSpPr txBox="1"/>
          <p:nvPr/>
        </p:nvSpPr>
        <p:spPr>
          <a:xfrm>
            <a:off x="7858992" y="2250123"/>
            <a:ext cx="70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sz="1400" b="1" dirty="0">
                <a:solidFill>
                  <a:srgbClr val="0078D4"/>
                </a:solidFill>
              </a:rPr>
              <a:t>起動</a:t>
            </a:r>
          </a:p>
        </p:txBody>
      </p:sp>
      <p:sp>
        <p:nvSpPr>
          <p:cNvPr id="112" name="Label 112"/>
          <p:cNvSpPr txBox="1"/>
          <p:nvPr/>
        </p:nvSpPr>
        <p:spPr>
          <a:xfrm>
            <a:off x="9808992" y="2250123"/>
            <a:ext cx="70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sz="1400" b="1" dirty="0">
                <a:solidFill>
                  <a:srgbClr val="F7630C"/>
                </a:solidFill>
              </a:rPr>
              <a:t>履歴</a:t>
            </a:r>
          </a:p>
        </p:txBody>
      </p:sp>
      <p:sp>
        <p:nvSpPr>
          <p:cNvPr id="113" name="Label 113"/>
          <p:cNvSpPr txBox="1"/>
          <p:nvPr/>
        </p:nvSpPr>
        <p:spPr>
          <a:xfrm>
            <a:off x="8483992" y="3750123"/>
            <a:ext cx="140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sz="1400" b="1" dirty="0">
                <a:solidFill>
                  <a:srgbClr val="107C10"/>
                </a:solidFill>
              </a:rPr>
              <a:t>呼び出し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8CC2B4B-2851-8F68-D6B4-E8D733B3207F}"/>
              </a:ext>
            </a:extLst>
          </p:cNvPr>
          <p:cNvSpPr/>
          <p:nvPr/>
        </p:nvSpPr>
        <p:spPr bwMode="auto">
          <a:xfrm>
            <a:off x="6781802" y="4311649"/>
            <a:ext cx="4824982" cy="971551"/>
          </a:xfrm>
          <a:prstGeom prst="rect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kumimoji="1" lang="ja-JP" altLang="en-US" sz="2000" dirty="0" err="1">
              <a:solidFill>
                <a:srgbClr val="FFFFFF"/>
              </a:solidFill>
              <a:latin typeface="+mn-ea"/>
              <a:ea typeface="+mn-ea"/>
              <a:cs typeface="Segoe UI" pitchFamily="34" charset="0"/>
            </a:endParaRPr>
          </a:p>
        </p:txBody>
      </p:sp>
      <p:sp>
        <p:nvSpPr>
          <p:cNvPr id="5" name="吹き出し: 四角形 4">
            <a:extLst>
              <a:ext uri="{FF2B5EF4-FFF2-40B4-BE49-F238E27FC236}">
                <a16:creationId xmlns:a16="http://schemas.microsoft.com/office/drawing/2014/main" id="{A7AA1B41-D977-0E59-F175-CD57BE55CB04}"/>
              </a:ext>
            </a:extLst>
          </p:cNvPr>
          <p:cNvSpPr/>
          <p:nvPr/>
        </p:nvSpPr>
        <p:spPr bwMode="auto">
          <a:xfrm>
            <a:off x="5386647" y="5835535"/>
            <a:ext cx="4947345" cy="814665"/>
          </a:xfrm>
          <a:prstGeom prst="wedgeRectCallout">
            <a:avLst>
              <a:gd name="adj1" fmla="val -6383"/>
              <a:gd name="adj2" fmla="val -110966"/>
            </a:avLst>
          </a:prstGeom>
          <a:ln>
            <a:headEnd type="none" w="med" len="med"/>
            <a:tailEnd type="none" w="med" len="med"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000" b="1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ここは短時間実行しか出来ない</a:t>
            </a:r>
            <a:endParaRPr kumimoji="1" lang="ja-JP" altLang="en-US" sz="2000" b="1" dirty="0">
              <a:solidFill>
                <a:srgbClr val="FFFFFF"/>
              </a:solidFill>
              <a:latin typeface="+mn-ea"/>
              <a:ea typeface="+mn-ea"/>
              <a:cs typeface="Segoe UI" pitchFamily="34" charset="0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5C7CD42-08A1-BB54-2320-DE892191B316}"/>
              </a:ext>
            </a:extLst>
          </p:cNvPr>
          <p:cNvSpPr/>
          <p:nvPr/>
        </p:nvSpPr>
        <p:spPr bwMode="auto">
          <a:xfrm>
            <a:off x="8140700" y="2530123"/>
            <a:ext cx="2049968" cy="848078"/>
          </a:xfrm>
          <a:prstGeom prst="rect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kumimoji="1" lang="ja-JP" altLang="en-US" sz="2000" dirty="0" err="1">
              <a:solidFill>
                <a:srgbClr val="FFFFFF"/>
              </a:solidFill>
              <a:latin typeface="+mn-ea"/>
              <a:ea typeface="+mn-ea"/>
              <a:cs typeface="Segoe UI" pitchFamily="34" charset="0"/>
            </a:endParaRPr>
          </a:p>
        </p:txBody>
      </p:sp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8FD4613B-546A-BCE9-E12E-C56EF7D283B3}"/>
              </a:ext>
            </a:extLst>
          </p:cNvPr>
          <p:cNvSpPr/>
          <p:nvPr/>
        </p:nvSpPr>
        <p:spPr bwMode="auto">
          <a:xfrm>
            <a:off x="6781802" y="697625"/>
            <a:ext cx="5298441" cy="1144999"/>
          </a:xfrm>
          <a:prstGeom prst="wedgeRectCallout">
            <a:avLst>
              <a:gd name="adj1" fmla="val -9335"/>
              <a:gd name="adj2" fmla="val 102606"/>
            </a:avLst>
          </a:prstGeom>
          <a:ln>
            <a:headEnd type="none" w="med" len="med"/>
            <a:tailEnd type="none" w="med" len="med"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0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ここが長時間動く</a:t>
            </a:r>
            <a:endParaRPr kumimoji="1" lang="en-US" altLang="ja-JP" sz="2000" b="1" dirty="0">
              <a:solidFill>
                <a:srgbClr val="FFFFFF"/>
              </a:solidFill>
              <a:latin typeface="+mn-ea"/>
              <a:ea typeface="+mn-ea"/>
              <a:cs typeface="Segoe UI" pitchFamily="34" charset="0"/>
            </a:endParaRPr>
          </a:p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0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ここはリプレイされても問題ない作りにしないといけない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11" grpId="0"/>
      <p:bldP spid="112" grpId="0"/>
      <p:bldP spid="113" grpId="0"/>
      <p:bldP spid="4" grpId="0" animBg="1"/>
      <p:bldP spid="5" grpId="0" animBg="1"/>
      <p:bldP spid="7" grpId="0" animBg="1"/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5613E-2E1B-158C-5745-6931F3802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A414AAF8-4C0C-BAE0-3DA2-35F0B787A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Durable Functions </a:t>
            </a:r>
            <a:r>
              <a:rPr lang="ja-JP" altLang="en-US" dirty="0"/>
              <a:t>の登場人物</a:t>
            </a:r>
            <a:endParaRPr lang="ja-JP" dirty="0"/>
          </a:p>
        </p:txBody>
      </p:sp>
      <p:sp>
        <p:nvSpPr>
          <p:cNvPr id="100" name="Box 100">
            <a:extLst>
              <a:ext uri="{FF2B5EF4-FFF2-40B4-BE49-F238E27FC236}">
                <a16:creationId xmlns:a16="http://schemas.microsoft.com/office/drawing/2014/main" id="{9D7225C3-B122-7D85-F711-2C221122EB16}"/>
              </a:ext>
            </a:extLst>
          </p:cNvPr>
          <p:cNvSpPr/>
          <p:nvPr/>
        </p:nvSpPr>
        <p:spPr>
          <a:xfrm>
            <a:off x="6433992" y="2625123"/>
            <a:ext cx="1600000" cy="65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Client</a:t>
            </a:r>
          </a:p>
        </p:txBody>
      </p:sp>
      <p:sp>
        <p:nvSpPr>
          <p:cNvPr id="101" name="Box 101">
            <a:extLst>
              <a:ext uri="{FF2B5EF4-FFF2-40B4-BE49-F238E27FC236}">
                <a16:creationId xmlns:a16="http://schemas.microsoft.com/office/drawing/2014/main" id="{8BBA77BF-1E2A-A786-127E-2330EB2ABC55}"/>
              </a:ext>
            </a:extLst>
          </p:cNvPr>
          <p:cNvSpPr/>
          <p:nvPr/>
        </p:nvSpPr>
        <p:spPr>
          <a:xfrm>
            <a:off x="8383992" y="2625123"/>
            <a:ext cx="1600000" cy="65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Orchestrator</a:t>
            </a:r>
          </a:p>
        </p:txBody>
      </p:sp>
      <p:sp>
        <p:nvSpPr>
          <p:cNvPr id="102" name="Box 102">
            <a:extLst>
              <a:ext uri="{FF2B5EF4-FFF2-40B4-BE49-F238E27FC236}">
                <a16:creationId xmlns:a16="http://schemas.microsoft.com/office/drawing/2014/main" id="{85C70DD7-B3AA-C312-D48E-62A2F6572122}"/>
              </a:ext>
            </a:extLst>
          </p:cNvPr>
          <p:cNvSpPr/>
          <p:nvPr/>
        </p:nvSpPr>
        <p:spPr>
          <a:xfrm>
            <a:off x="10333992" y="2625123"/>
            <a:ext cx="1600000" cy="650000"/>
          </a:xfrm>
          <a:prstGeom prst="roundRect">
            <a:avLst>
              <a:gd name="adj" fmla="val 10000"/>
            </a:avLst>
          </a:prstGeom>
          <a:solidFill>
            <a:srgbClr val="FFF4CE"/>
          </a:solidFill>
          <a:ln w="19050">
            <a:solidFill>
              <a:srgbClr val="F7630C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Backend (DTS)</a:t>
            </a:r>
          </a:p>
        </p:txBody>
      </p:sp>
      <p:sp>
        <p:nvSpPr>
          <p:cNvPr id="103" name="Box 103">
            <a:extLst>
              <a:ext uri="{FF2B5EF4-FFF2-40B4-BE49-F238E27FC236}">
                <a16:creationId xmlns:a16="http://schemas.microsoft.com/office/drawing/2014/main" id="{7BD7B0EF-50D9-9910-73DF-63486944A6C3}"/>
              </a:ext>
            </a:extLst>
          </p:cNvPr>
          <p:cNvSpPr/>
          <p:nvPr/>
        </p:nvSpPr>
        <p:spPr>
          <a:xfrm>
            <a:off x="6883992" y="4450123"/>
            <a:ext cx="1400000" cy="65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300" b="1" dirty="0">
                <a:solidFill>
                  <a:srgbClr val="000000"/>
                </a:solidFill>
              </a:rPr>
              <a:t>Activity 1</a:t>
            </a:r>
          </a:p>
        </p:txBody>
      </p:sp>
      <p:sp>
        <p:nvSpPr>
          <p:cNvPr id="104" name="Box 104">
            <a:extLst>
              <a:ext uri="{FF2B5EF4-FFF2-40B4-BE49-F238E27FC236}">
                <a16:creationId xmlns:a16="http://schemas.microsoft.com/office/drawing/2014/main" id="{5FA10E49-DC41-5671-17CE-8FEA1F3E05AA}"/>
              </a:ext>
            </a:extLst>
          </p:cNvPr>
          <p:cNvSpPr/>
          <p:nvPr/>
        </p:nvSpPr>
        <p:spPr>
          <a:xfrm>
            <a:off x="8483992" y="4450123"/>
            <a:ext cx="1400000" cy="65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300" b="1" dirty="0">
                <a:solidFill>
                  <a:srgbClr val="000000"/>
                </a:solidFill>
              </a:rPr>
              <a:t>Activity 2</a:t>
            </a:r>
          </a:p>
        </p:txBody>
      </p:sp>
      <p:sp>
        <p:nvSpPr>
          <p:cNvPr id="105" name="Box 105">
            <a:extLst>
              <a:ext uri="{FF2B5EF4-FFF2-40B4-BE49-F238E27FC236}">
                <a16:creationId xmlns:a16="http://schemas.microsoft.com/office/drawing/2014/main" id="{3ADF4185-EDCC-262D-ADE4-46F64108DC51}"/>
              </a:ext>
            </a:extLst>
          </p:cNvPr>
          <p:cNvSpPr/>
          <p:nvPr/>
        </p:nvSpPr>
        <p:spPr>
          <a:xfrm>
            <a:off x="10083992" y="4450123"/>
            <a:ext cx="1400000" cy="65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300" b="1" dirty="0">
                <a:solidFill>
                  <a:srgbClr val="000000"/>
                </a:solidFill>
              </a:rPr>
              <a:t>Activity 3</a:t>
            </a:r>
          </a:p>
        </p:txBody>
      </p:sp>
      <p:cxnSp>
        <p:nvCxnSpPr>
          <p:cNvPr id="106" name="Arrow 106">
            <a:extLst>
              <a:ext uri="{FF2B5EF4-FFF2-40B4-BE49-F238E27FC236}">
                <a16:creationId xmlns:a16="http://schemas.microsoft.com/office/drawing/2014/main" id="{475E4E09-DD92-2D75-8218-932771B560EC}"/>
              </a:ext>
            </a:extLst>
          </p:cNvPr>
          <p:cNvCxnSpPr>
            <a:cxnSpLocks/>
            <a:stCxn id="100" idx="3"/>
          </p:cNvCxnSpPr>
          <p:nvPr/>
        </p:nvCxnSpPr>
        <p:spPr>
          <a:xfrm>
            <a:off x="8033992" y="2950123"/>
            <a:ext cx="380000" cy="1"/>
          </a:xfrm>
          <a:prstGeom prst="straightConnector1">
            <a:avLst/>
          </a:prstGeom>
          <a:ln w="28575">
            <a:solidFill>
              <a:srgbClr val="0078D4"/>
            </a:solidFill>
            <a:tailEnd type="triangle" w="med" len="med"/>
          </a:ln>
        </p:spPr>
      </p:cxnSp>
      <p:cxnSp>
        <p:nvCxnSpPr>
          <p:cNvPr id="107" name="DArrow 107">
            <a:extLst>
              <a:ext uri="{FF2B5EF4-FFF2-40B4-BE49-F238E27FC236}">
                <a16:creationId xmlns:a16="http://schemas.microsoft.com/office/drawing/2014/main" id="{887F6F1C-38A0-072B-827D-3648D4F7348C}"/>
              </a:ext>
            </a:extLst>
          </p:cNvPr>
          <p:cNvCxnSpPr/>
          <p:nvPr/>
        </p:nvCxnSpPr>
        <p:spPr>
          <a:xfrm>
            <a:off x="9953992" y="2950123"/>
            <a:ext cx="410000" cy="1"/>
          </a:xfrm>
          <a:prstGeom prst="straightConnector1">
            <a:avLst/>
          </a:prstGeom>
          <a:ln w="28575">
            <a:solidFill>
              <a:srgbClr val="F7630C"/>
            </a:solidFill>
            <a:headEnd type="triangle" w="med" len="med"/>
            <a:tailEnd type="triangle" w="med" len="med"/>
          </a:ln>
        </p:spPr>
      </p:cxnSp>
      <p:cxnSp>
        <p:nvCxnSpPr>
          <p:cNvPr id="108" name="Arrow 108">
            <a:extLst>
              <a:ext uri="{FF2B5EF4-FFF2-40B4-BE49-F238E27FC236}">
                <a16:creationId xmlns:a16="http://schemas.microsoft.com/office/drawing/2014/main" id="{9A27F6D5-2A9C-585E-4437-743016C75579}"/>
              </a:ext>
            </a:extLst>
          </p:cNvPr>
          <p:cNvCxnSpPr/>
          <p:nvPr/>
        </p:nvCxnSpPr>
        <p:spPr>
          <a:xfrm flipH="1">
            <a:off x="7583992" y="3275123"/>
            <a:ext cx="1600000" cy="1145000"/>
          </a:xfrm>
          <a:prstGeom prst="straightConnector1">
            <a:avLst/>
          </a:prstGeom>
          <a:ln w="19050">
            <a:solidFill>
              <a:srgbClr val="107C10"/>
            </a:solidFill>
            <a:tailEnd type="triangle" w="med" len="med"/>
          </a:ln>
        </p:spPr>
      </p:cxnSp>
      <p:cxnSp>
        <p:nvCxnSpPr>
          <p:cNvPr id="109" name="Arrow 109">
            <a:extLst>
              <a:ext uri="{FF2B5EF4-FFF2-40B4-BE49-F238E27FC236}">
                <a16:creationId xmlns:a16="http://schemas.microsoft.com/office/drawing/2014/main" id="{F96E074F-2365-4BB0-5629-643F38EA560A}"/>
              </a:ext>
            </a:extLst>
          </p:cNvPr>
          <p:cNvCxnSpPr/>
          <p:nvPr/>
        </p:nvCxnSpPr>
        <p:spPr>
          <a:xfrm>
            <a:off x="9183992" y="3275123"/>
            <a:ext cx="1" cy="1145000"/>
          </a:xfrm>
          <a:prstGeom prst="straightConnector1">
            <a:avLst/>
          </a:prstGeom>
          <a:ln w="19050">
            <a:solidFill>
              <a:srgbClr val="107C10"/>
            </a:solidFill>
            <a:tailEnd type="triangle" w="med" len="med"/>
          </a:ln>
        </p:spPr>
      </p:cxnSp>
      <p:cxnSp>
        <p:nvCxnSpPr>
          <p:cNvPr id="110" name="Arrow 110">
            <a:extLst>
              <a:ext uri="{FF2B5EF4-FFF2-40B4-BE49-F238E27FC236}">
                <a16:creationId xmlns:a16="http://schemas.microsoft.com/office/drawing/2014/main" id="{BE3CDE9F-AF41-9FA2-A2C1-09CFFF2918AB}"/>
              </a:ext>
            </a:extLst>
          </p:cNvPr>
          <p:cNvCxnSpPr/>
          <p:nvPr/>
        </p:nvCxnSpPr>
        <p:spPr>
          <a:xfrm>
            <a:off x="9183992" y="3275123"/>
            <a:ext cx="1600000" cy="1145000"/>
          </a:xfrm>
          <a:prstGeom prst="straightConnector1">
            <a:avLst/>
          </a:prstGeom>
          <a:ln w="19050">
            <a:solidFill>
              <a:srgbClr val="107C10"/>
            </a:solidFill>
            <a:tailEnd type="triangle" w="med" len="med"/>
          </a:ln>
        </p:spPr>
      </p:cxnSp>
      <p:sp>
        <p:nvSpPr>
          <p:cNvPr id="111" name="Label 111">
            <a:extLst>
              <a:ext uri="{FF2B5EF4-FFF2-40B4-BE49-F238E27FC236}">
                <a16:creationId xmlns:a16="http://schemas.microsoft.com/office/drawing/2014/main" id="{30D564CD-F406-EA8C-F0C9-9BD6D3091EE7}"/>
              </a:ext>
            </a:extLst>
          </p:cNvPr>
          <p:cNvSpPr txBox="1"/>
          <p:nvPr/>
        </p:nvSpPr>
        <p:spPr>
          <a:xfrm>
            <a:off x="7858992" y="2250123"/>
            <a:ext cx="70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sz="1400" b="1" dirty="0">
                <a:solidFill>
                  <a:srgbClr val="0078D4"/>
                </a:solidFill>
              </a:rPr>
              <a:t>起動</a:t>
            </a:r>
          </a:p>
        </p:txBody>
      </p:sp>
      <p:sp>
        <p:nvSpPr>
          <p:cNvPr id="112" name="Label 112">
            <a:extLst>
              <a:ext uri="{FF2B5EF4-FFF2-40B4-BE49-F238E27FC236}">
                <a16:creationId xmlns:a16="http://schemas.microsoft.com/office/drawing/2014/main" id="{2140FED2-8C08-EBCC-09F9-1E6F410F9638}"/>
              </a:ext>
            </a:extLst>
          </p:cNvPr>
          <p:cNvSpPr txBox="1"/>
          <p:nvPr/>
        </p:nvSpPr>
        <p:spPr>
          <a:xfrm>
            <a:off x="9808992" y="2250123"/>
            <a:ext cx="70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sz="1400" b="1" dirty="0">
                <a:solidFill>
                  <a:srgbClr val="F7630C"/>
                </a:solidFill>
              </a:rPr>
              <a:t>履歴</a:t>
            </a:r>
          </a:p>
        </p:txBody>
      </p:sp>
      <p:sp>
        <p:nvSpPr>
          <p:cNvPr id="113" name="Label 113">
            <a:extLst>
              <a:ext uri="{FF2B5EF4-FFF2-40B4-BE49-F238E27FC236}">
                <a16:creationId xmlns:a16="http://schemas.microsoft.com/office/drawing/2014/main" id="{3FA09EA0-A65C-64B3-738E-473E67F4B246}"/>
              </a:ext>
            </a:extLst>
          </p:cNvPr>
          <p:cNvSpPr txBox="1"/>
          <p:nvPr/>
        </p:nvSpPr>
        <p:spPr>
          <a:xfrm>
            <a:off x="8483992" y="3750123"/>
            <a:ext cx="140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sz="1400" b="1" dirty="0">
                <a:solidFill>
                  <a:srgbClr val="107C10"/>
                </a:solidFill>
              </a:rPr>
              <a:t>呼び出し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03F4F66-F07E-9610-FFC0-4B79E3AE5D1D}"/>
              </a:ext>
            </a:extLst>
          </p:cNvPr>
          <p:cNvSpPr/>
          <p:nvPr/>
        </p:nvSpPr>
        <p:spPr bwMode="auto">
          <a:xfrm>
            <a:off x="6781802" y="4311649"/>
            <a:ext cx="4824982" cy="971551"/>
          </a:xfrm>
          <a:prstGeom prst="rect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kumimoji="1" lang="ja-JP" altLang="en-US" sz="2000" dirty="0" err="1">
              <a:solidFill>
                <a:srgbClr val="FFFFFF"/>
              </a:solidFill>
              <a:latin typeface="+mn-ea"/>
              <a:ea typeface="+mn-ea"/>
              <a:cs typeface="Segoe UI" pitchFamily="34" charset="0"/>
            </a:endParaRPr>
          </a:p>
        </p:txBody>
      </p:sp>
      <p:sp>
        <p:nvSpPr>
          <p:cNvPr id="5" name="吹き出し: 四角形 4">
            <a:extLst>
              <a:ext uri="{FF2B5EF4-FFF2-40B4-BE49-F238E27FC236}">
                <a16:creationId xmlns:a16="http://schemas.microsoft.com/office/drawing/2014/main" id="{DA456CB4-8BCB-270D-EE32-C86BE52E765B}"/>
              </a:ext>
            </a:extLst>
          </p:cNvPr>
          <p:cNvSpPr/>
          <p:nvPr/>
        </p:nvSpPr>
        <p:spPr bwMode="auto">
          <a:xfrm>
            <a:off x="5386647" y="5835535"/>
            <a:ext cx="4947345" cy="814665"/>
          </a:xfrm>
          <a:prstGeom prst="wedgeRectCallout">
            <a:avLst>
              <a:gd name="adj1" fmla="val -6383"/>
              <a:gd name="adj2" fmla="val -110966"/>
            </a:avLst>
          </a:prstGeom>
          <a:ln>
            <a:headEnd type="none" w="med" len="med"/>
            <a:tailEnd type="none" w="med" len="med"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000" b="1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ここは短時間実行しか出来ない</a:t>
            </a:r>
            <a:endParaRPr kumimoji="1" lang="ja-JP" altLang="en-US" sz="2000" b="1" dirty="0">
              <a:solidFill>
                <a:srgbClr val="FFFFFF"/>
              </a:solidFill>
              <a:latin typeface="+mn-ea"/>
              <a:ea typeface="+mn-ea"/>
              <a:cs typeface="Segoe UI" pitchFamily="34" charset="0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0F9A650-1A43-7269-455A-E826B1C9645C}"/>
              </a:ext>
            </a:extLst>
          </p:cNvPr>
          <p:cNvSpPr/>
          <p:nvPr/>
        </p:nvSpPr>
        <p:spPr bwMode="auto">
          <a:xfrm>
            <a:off x="8140700" y="2530123"/>
            <a:ext cx="2049968" cy="848078"/>
          </a:xfrm>
          <a:prstGeom prst="rect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kumimoji="1" lang="ja-JP" altLang="en-US" sz="2000" dirty="0" err="1">
              <a:solidFill>
                <a:srgbClr val="FFFFFF"/>
              </a:solidFill>
              <a:latin typeface="+mn-ea"/>
              <a:ea typeface="+mn-ea"/>
              <a:cs typeface="Segoe UI" pitchFamily="34" charset="0"/>
            </a:endParaRPr>
          </a:p>
        </p:txBody>
      </p:sp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3694FBFF-C792-31CD-D8B2-D1370B61CF04}"/>
              </a:ext>
            </a:extLst>
          </p:cNvPr>
          <p:cNvSpPr/>
          <p:nvPr/>
        </p:nvSpPr>
        <p:spPr bwMode="auto">
          <a:xfrm>
            <a:off x="6781802" y="697625"/>
            <a:ext cx="5298441" cy="1144999"/>
          </a:xfrm>
          <a:prstGeom prst="wedgeRectCallout">
            <a:avLst>
              <a:gd name="adj1" fmla="val -9335"/>
              <a:gd name="adj2" fmla="val 102606"/>
            </a:avLst>
          </a:prstGeom>
          <a:ln>
            <a:headEnd type="none" w="med" len="med"/>
            <a:tailEnd type="none" w="med" len="med"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0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ここが長時間動く</a:t>
            </a:r>
            <a:endParaRPr kumimoji="1" lang="en-US" altLang="ja-JP" sz="2000" b="1" dirty="0">
              <a:solidFill>
                <a:srgbClr val="FFFFFF"/>
              </a:solidFill>
              <a:latin typeface="+mn-ea"/>
              <a:ea typeface="+mn-ea"/>
              <a:cs typeface="Segoe UI" pitchFamily="34" charset="0"/>
            </a:endParaRPr>
          </a:p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0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ここはリプレイされても問題ない作りにしないといけない </a:t>
            </a:r>
          </a:p>
        </p:txBody>
      </p:sp>
      <p:sp>
        <p:nvSpPr>
          <p:cNvPr id="11" name="Placeholder 10">
            <a:extLst>
              <a:ext uri="{FF2B5EF4-FFF2-40B4-BE49-F238E27FC236}">
                <a16:creationId xmlns:a16="http://schemas.microsoft.com/office/drawing/2014/main" id="{EA223D7E-4EA8-E812-9757-01C92C07B9F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57200" y="1600200"/>
            <a:ext cx="6251792" cy="1698927"/>
          </a:xfrm>
        </p:spPr>
        <p:txBody>
          <a:bodyPr/>
          <a:lstStyle/>
          <a:p>
            <a:r>
              <a:rPr lang="ja-JP" altLang="ja-JP" sz="2400" dirty="0"/>
              <a:t>クライアント</a:t>
            </a:r>
            <a:r>
              <a:rPr lang="en-US" altLang="ja-JP" sz="2400" dirty="0"/>
              <a:t>  		</a:t>
            </a:r>
            <a:r>
              <a:rPr lang="ja-JP" altLang="en-US" sz="2400" dirty="0"/>
              <a:t>処理を</a:t>
            </a:r>
            <a:r>
              <a:rPr lang="ja-JP" altLang="ja-JP" sz="2400" dirty="0"/>
              <a:t>起動</a:t>
            </a:r>
            <a:r>
              <a:rPr lang="ja-JP" altLang="en-US" sz="2400" dirty="0"/>
              <a:t>する人</a:t>
            </a:r>
            <a:endParaRPr lang="ja-JP" altLang="ja-JP" sz="2400" dirty="0"/>
          </a:p>
          <a:p>
            <a:pPr lvl="0"/>
            <a:r>
              <a:rPr lang="ja-JP" sz="2400" dirty="0"/>
              <a:t>オーケストレーター</a:t>
            </a:r>
            <a:r>
              <a:rPr lang="en-US" altLang="ja-JP" sz="2400" dirty="0"/>
              <a:t> 	</a:t>
            </a:r>
            <a:r>
              <a:rPr lang="ja-JP" sz="2400" dirty="0"/>
              <a:t>流れを書く</a:t>
            </a:r>
            <a:r>
              <a:rPr lang="ja-JP" altLang="en-US" sz="2400" dirty="0"/>
              <a:t>所</a:t>
            </a:r>
            <a:endParaRPr lang="ja-JP" sz="2400" dirty="0"/>
          </a:p>
          <a:p>
            <a:pPr lvl="0"/>
            <a:r>
              <a:rPr lang="ja-JP" sz="2400" dirty="0"/>
              <a:t>アクティビティ</a:t>
            </a:r>
            <a:r>
              <a:rPr lang="en-US" altLang="ja-JP" sz="2400" dirty="0"/>
              <a:t> 		</a:t>
            </a:r>
            <a:r>
              <a:rPr lang="ja-JP" sz="2400" dirty="0"/>
              <a:t>処理</a:t>
            </a:r>
            <a:r>
              <a:rPr lang="ja-JP" altLang="en-US" sz="2400" dirty="0"/>
              <a:t>をする所</a:t>
            </a:r>
            <a:endParaRPr lang="ja-JP" sz="2400" dirty="0"/>
          </a:p>
          <a:p>
            <a:pPr lvl="0"/>
            <a:r>
              <a:rPr lang="ja-JP" sz="2400" dirty="0"/>
              <a:t>バックエンド</a:t>
            </a:r>
            <a:r>
              <a:rPr lang="en-US" altLang="ja-JP" sz="2400" dirty="0"/>
              <a:t> 		</a:t>
            </a:r>
            <a:r>
              <a:rPr lang="ja-JP" sz="2400" dirty="0"/>
              <a:t>履歴を保存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80CB5B8-2722-5006-A9D9-EF2D59616C24}"/>
              </a:ext>
            </a:extLst>
          </p:cNvPr>
          <p:cNvSpPr/>
          <p:nvPr/>
        </p:nvSpPr>
        <p:spPr bwMode="auto">
          <a:xfrm>
            <a:off x="0" y="2478693"/>
            <a:ext cx="12192000" cy="2390254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44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細かい処理に分割可能な処理を</a:t>
            </a:r>
            <a:endParaRPr kumimoji="1" lang="en-US" altLang="ja-JP" sz="4400" b="1" dirty="0">
              <a:solidFill>
                <a:srgbClr val="FFFFFF"/>
              </a:solidFill>
              <a:latin typeface="+mn-ea"/>
              <a:ea typeface="+mn-ea"/>
              <a:cs typeface="Segoe UI" pitchFamily="34" charset="0"/>
            </a:endParaRPr>
          </a:p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44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長時間かけて実行可能</a:t>
            </a:r>
            <a:endParaRPr kumimoji="1" lang="en-US" altLang="ja-JP" sz="4400" b="1" dirty="0">
              <a:solidFill>
                <a:srgbClr val="FFFFFF"/>
              </a:solidFill>
              <a:latin typeface="+mn-ea"/>
              <a:ea typeface="+mn-ea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97339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9CDEA69-F879-B634-5955-40896A308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Durable Functions </a:t>
            </a:r>
            <a:r>
              <a:rPr kumimoji="1" lang="ja-JP" altLang="en-US" dirty="0"/>
              <a:t>のユースケース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159B11A-C7AE-4839-E1C2-2F4ED9C6D42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5100"/>
            <a:ext cx="11018838" cy="4345805"/>
          </a:xfrm>
        </p:spPr>
        <p:txBody>
          <a:bodyPr/>
          <a:lstStyle/>
          <a:p>
            <a:r>
              <a:rPr kumimoji="1" lang="ja-JP" altLang="en-US" dirty="0"/>
              <a:t>大量データ処理</a:t>
            </a:r>
            <a:endParaRPr kumimoji="1" lang="en-US" altLang="ja-JP" dirty="0"/>
          </a:p>
          <a:p>
            <a:pPr lvl="1"/>
            <a:r>
              <a:rPr lang="en-US" altLang="ja-JP" dirty="0"/>
              <a:t>AI </a:t>
            </a:r>
            <a:r>
              <a:rPr lang="ja-JP" altLang="en-US" dirty="0"/>
              <a:t>のためのインデックス構築パイプライン</a:t>
            </a:r>
            <a:endParaRPr lang="en-US" altLang="ja-JP" dirty="0"/>
          </a:p>
          <a:p>
            <a:pPr lvl="1"/>
            <a:r>
              <a:rPr lang="ja-JP" altLang="en-US" dirty="0"/>
              <a:t>大量の画像のサムネイルや画像の仕分け処理</a:t>
            </a:r>
            <a:endParaRPr kumimoji="1" lang="en-US" altLang="ja-JP" dirty="0"/>
          </a:p>
          <a:p>
            <a:r>
              <a:rPr kumimoji="1" lang="ja-JP" altLang="en-US" dirty="0"/>
              <a:t>バッチ処理全般</a:t>
            </a:r>
            <a:endParaRPr lang="en-US" altLang="ja-JP" dirty="0"/>
          </a:p>
          <a:p>
            <a:pPr lvl="1"/>
            <a:r>
              <a:rPr kumimoji="1" lang="ja-JP" altLang="en-US" dirty="0"/>
              <a:t>夜間バッチ処理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夜間以外でもデータの集計処理</a:t>
            </a:r>
            <a:endParaRPr kumimoji="1" lang="en-US" altLang="ja-JP" dirty="0"/>
          </a:p>
          <a:p>
            <a:r>
              <a:rPr kumimoji="1" lang="ja-JP" altLang="en-US" dirty="0"/>
              <a:t>人間の承認を挟む処理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承認者が一週間休暇をとっていても </a:t>
            </a:r>
            <a:r>
              <a:rPr kumimoji="1" lang="en-US" altLang="ja-JP" dirty="0"/>
              <a:t>Durable Functions </a:t>
            </a:r>
            <a:r>
              <a:rPr kumimoji="1" lang="ja-JP" altLang="en-US" dirty="0"/>
              <a:t>なら待ち続けられる</a:t>
            </a:r>
            <a:endParaRPr kumimoji="1" lang="en-US" altLang="ja-JP" dirty="0"/>
          </a:p>
          <a:p>
            <a:r>
              <a:rPr lang="ja-JP" altLang="en-US" dirty="0"/>
              <a:t>マルチエージェントのワークフロー</a:t>
            </a:r>
            <a:endParaRPr lang="en-US" altLang="ja-JP" dirty="0"/>
          </a:p>
          <a:p>
            <a:pPr lvl="1"/>
            <a:r>
              <a:rPr lang="ja-JP" altLang="en-US" dirty="0"/>
              <a:t>この後のセッションに期待</a:t>
            </a:r>
            <a:r>
              <a:rPr lang="en-US" altLang="ja-JP" dirty="0"/>
              <a:t>…</a:t>
            </a:r>
            <a:r>
              <a:rPr lang="ja-JP" altLang="en-US" dirty="0"/>
              <a:t>！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26069805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Durable Task Scheduler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Durable Task Scheduler (DTS)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>
          <a:xfrm>
            <a:off x="457199" y="1600200"/>
            <a:ext cx="6599583" cy="2412968"/>
          </a:xfrm>
        </p:spPr>
        <p:txBody>
          <a:bodyPr/>
          <a:lstStyle/>
          <a:p>
            <a:pPr lvl="0"/>
            <a:r>
              <a:rPr lang="ja-JP" dirty="0"/>
              <a:t>マネージドバックエンド</a:t>
            </a:r>
          </a:p>
          <a:p>
            <a:pPr lvl="0"/>
            <a:r>
              <a:rPr lang="ja-JP" dirty="0"/>
              <a:t>高性能・高スケール</a:t>
            </a:r>
          </a:p>
          <a:p>
            <a:pPr lvl="0"/>
            <a:r>
              <a:rPr lang="ja-JP" dirty="0"/>
              <a:t>Functions と独立</a:t>
            </a:r>
            <a:r>
              <a:rPr lang="ja-JP" altLang="en-US" dirty="0"/>
              <a:t>したリソース</a:t>
            </a:r>
            <a:endParaRPr lang="ja-JP" dirty="0"/>
          </a:p>
          <a:p>
            <a:pPr lvl="0"/>
            <a:r>
              <a:rPr lang="ja-JP" dirty="0"/>
              <a:t>監視ダッシュボード付き</a:t>
            </a:r>
            <a:r>
              <a:rPr lang="en-US" altLang="ja-JP" dirty="0"/>
              <a:t> (</a:t>
            </a:r>
            <a:r>
              <a:rPr lang="ja-JP" altLang="en-US" dirty="0"/>
              <a:t>かっこいい</a:t>
            </a:r>
            <a:r>
              <a:rPr lang="en-US" altLang="ja-JP" dirty="0"/>
              <a:t>)</a:t>
            </a:r>
            <a:endParaRPr lang="ja-JP" dirty="0"/>
          </a:p>
        </p:txBody>
      </p:sp>
      <p:sp>
        <p:nvSpPr>
          <p:cNvPr id="100" name="Box 100"/>
          <p:cNvSpPr/>
          <p:nvPr/>
        </p:nvSpPr>
        <p:spPr>
          <a:xfrm>
            <a:off x="6706783" y="1829000"/>
            <a:ext cx="1400000" cy="100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Functions</a:t>
            </a:r>
          </a:p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App</a:t>
            </a:r>
          </a:p>
        </p:txBody>
      </p:sp>
      <p:sp>
        <p:nvSpPr>
          <p:cNvPr id="101" name="Box 101"/>
          <p:cNvSpPr/>
          <p:nvPr/>
        </p:nvSpPr>
        <p:spPr>
          <a:xfrm>
            <a:off x="8456783" y="1829000"/>
            <a:ext cx="1400000" cy="10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Durable Task</a:t>
            </a:r>
          </a:p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Scheduler</a:t>
            </a:r>
          </a:p>
        </p:txBody>
      </p:sp>
      <p:sp>
        <p:nvSpPr>
          <p:cNvPr id="102" name="Box 102"/>
          <p:cNvSpPr/>
          <p:nvPr/>
        </p:nvSpPr>
        <p:spPr>
          <a:xfrm>
            <a:off x="10206783" y="1829000"/>
            <a:ext cx="1400000" cy="100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Monitoring</a:t>
            </a:r>
          </a:p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Dashboard</a:t>
            </a:r>
          </a:p>
        </p:txBody>
      </p:sp>
      <p:cxnSp>
        <p:nvCxnSpPr>
          <p:cNvPr id="103" name="DArrow 103"/>
          <p:cNvCxnSpPr/>
          <p:nvPr/>
        </p:nvCxnSpPr>
        <p:spPr>
          <a:xfrm>
            <a:off x="8076783" y="2329000"/>
            <a:ext cx="410000" cy="1"/>
          </a:xfrm>
          <a:prstGeom prst="straightConnector1">
            <a:avLst/>
          </a:prstGeom>
          <a:ln w="28575">
            <a:solidFill>
              <a:srgbClr val="595959"/>
            </a:solidFill>
            <a:headEnd type="triangle" w="med" len="med"/>
            <a:tailEnd type="triangle" w="med" len="med"/>
          </a:ln>
        </p:spPr>
      </p:cxnSp>
      <p:cxnSp>
        <p:nvCxnSpPr>
          <p:cNvPr id="104" name="Arrow 104"/>
          <p:cNvCxnSpPr/>
          <p:nvPr/>
        </p:nvCxnSpPr>
        <p:spPr>
          <a:xfrm>
            <a:off x="9826783" y="2329000"/>
            <a:ext cx="410000" cy="1"/>
          </a:xfrm>
          <a:prstGeom prst="straightConnector1">
            <a:avLst/>
          </a:prstGeom>
          <a:ln w="28575">
            <a:solidFill>
              <a:srgbClr val="595959"/>
            </a:solidFill>
            <a:tailEnd type="triangle" w="med" len="med"/>
          </a:ln>
        </p:spPr>
      </p:cxnSp>
      <p:sp>
        <p:nvSpPr>
          <p:cNvPr id="105" name="Label 105"/>
          <p:cNvSpPr txBox="1"/>
          <p:nvPr/>
        </p:nvSpPr>
        <p:spPr>
          <a:xfrm>
            <a:off x="8106783" y="1949000"/>
            <a:ext cx="35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sz="1000" i="1" dirty="0">
                <a:solidFill>
                  <a:srgbClr val="595959"/>
                </a:solidFill>
              </a:rPr>
              <a:t>履歴</a:t>
            </a:r>
          </a:p>
        </p:txBody>
      </p:sp>
      <p:sp>
        <p:nvSpPr>
          <p:cNvPr id="106" name="Label 106"/>
          <p:cNvSpPr txBox="1"/>
          <p:nvPr/>
        </p:nvSpPr>
        <p:spPr>
          <a:xfrm>
            <a:off x="9856783" y="1949000"/>
            <a:ext cx="35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sz="1000" i="1" dirty="0">
                <a:solidFill>
                  <a:srgbClr val="595959"/>
                </a:solidFill>
              </a:rPr>
              <a:t>監視</a:t>
            </a:r>
          </a:p>
        </p:txBody>
      </p:sp>
      <p:sp>
        <p:nvSpPr>
          <p:cNvPr id="107" name="Label 107"/>
          <p:cNvSpPr txBox="1"/>
          <p:nvPr/>
        </p:nvSpPr>
        <p:spPr>
          <a:xfrm>
            <a:off x="6706783" y="3079000"/>
            <a:ext cx="4900000" cy="35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sz="1400" b="1" i="1" dirty="0">
                <a:solidFill>
                  <a:srgbClr val="107C10"/>
                </a:solidFill>
              </a:rPr>
              <a:t>マネージドサービス</a:t>
            </a:r>
          </a:p>
        </p:txBody>
      </p:sp>
      <p:pic>
        <p:nvPicPr>
          <p:cNvPr id="5" name="図 4" descr="The image displays a user interface for the Durable Task Scheduler, showcasing a specific task hub called 'WeatherOrchestrator' with a list of tasks, execution details, and a timeline of activity durations.&#10;&#10;AI 生成コンテンツは誤りを含む可能性があります。">
            <a:extLst>
              <a:ext uri="{FF2B5EF4-FFF2-40B4-BE49-F238E27FC236}">
                <a16:creationId xmlns:a16="http://schemas.microsoft.com/office/drawing/2014/main" id="{6FB0ACFE-1861-5DA7-A4A6-AEE689ECE42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815"/>
          <a:stretch>
            <a:fillRect/>
          </a:stretch>
        </p:blipFill>
        <p:spPr>
          <a:xfrm>
            <a:off x="910962" y="3888251"/>
            <a:ext cx="5298332" cy="26121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図 6" descr="The image displays a list of tasks and events in a scheduling system, including tasks such as 'FetchWeather' and 'GetCities' with timestamps and statuses indicating when they were scheduled and executed.&#10;&#10;AI 生成コンテンツは誤りを含む可能性があります。">
            <a:extLst>
              <a:ext uri="{FF2B5EF4-FFF2-40B4-BE49-F238E27FC236}">
                <a16:creationId xmlns:a16="http://schemas.microsoft.com/office/drawing/2014/main" id="{DC0B8109-E7DF-7CE3-1590-915FA4A0F96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969"/>
          <a:stretch>
            <a:fillRect/>
          </a:stretch>
        </p:blipFill>
        <p:spPr>
          <a:xfrm>
            <a:off x="6418699" y="3888644"/>
            <a:ext cx="5188084" cy="261137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他の</a:t>
            </a:r>
            <a:r>
              <a:rPr lang="ja-JP" dirty="0"/>
              <a:t>バックエンドとの比較</a:t>
            </a:r>
          </a:p>
        </p:txBody>
      </p:sp>
      <p:sp>
        <p:nvSpPr>
          <p:cNvPr id="3" name="Placeholder 12"/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050340"/>
          </a:xfrm>
        </p:spPr>
        <p:txBody>
          <a:bodyPr/>
          <a:lstStyle/>
          <a:p>
            <a:pPr>
              <a:buNone/>
            </a:pPr>
            <a:r>
              <a:rPr lang="ja-JP" b="1" dirty="0"/>
              <a:t>Azure Storage</a:t>
            </a:r>
            <a:r>
              <a:rPr lang="en-US" altLang="ja-JP" b="1" dirty="0"/>
              <a:t> (</a:t>
            </a:r>
            <a:r>
              <a:rPr lang="ja-JP" altLang="en-US" b="1" dirty="0"/>
              <a:t>昔からある</a:t>
            </a:r>
            <a:r>
              <a:rPr lang="en-US" altLang="ja-JP" b="1" dirty="0"/>
              <a:t>)</a:t>
            </a:r>
            <a:endParaRPr lang="ja-JP" b="1" dirty="0"/>
          </a:p>
          <a:p>
            <a:pPr>
              <a:buNone/>
            </a:pPr>
            <a:endParaRPr lang="ja-JP" dirty="0"/>
          </a:p>
          <a:p>
            <a:pPr lvl="0"/>
            <a:r>
              <a:rPr lang="ja-JP" dirty="0"/>
              <a:t>標準で使える</a:t>
            </a:r>
          </a:p>
          <a:p>
            <a:pPr lvl="0"/>
            <a:r>
              <a:rPr lang="ja-JP" dirty="0"/>
              <a:t>低コスト</a:t>
            </a:r>
          </a:p>
          <a:p>
            <a:pPr lvl="0"/>
            <a:r>
              <a:rPr lang="ja-JP" dirty="0"/>
              <a:t>中規模まで OK</a:t>
            </a:r>
          </a:p>
          <a:p>
            <a:pPr lvl="0"/>
            <a:r>
              <a:rPr lang="en-US" altLang="ja-JP" dirty="0"/>
              <a:t>Table </a:t>
            </a:r>
            <a:r>
              <a:rPr lang="ja-JP" altLang="en-US" dirty="0"/>
              <a:t>や </a:t>
            </a:r>
            <a:r>
              <a:rPr lang="en-US" altLang="ja-JP" dirty="0"/>
              <a:t>Queue </a:t>
            </a:r>
            <a:r>
              <a:rPr lang="ja-JP" altLang="en-US" dirty="0"/>
              <a:t>で管理</a:t>
            </a:r>
            <a:endParaRPr lang="en-US" altLang="ja-JP" dirty="0"/>
          </a:p>
          <a:p>
            <a:pPr lvl="0"/>
            <a:r>
              <a:rPr lang="ja-JP" altLang="en-US" dirty="0"/>
              <a:t>データ管理は自分でやる</a:t>
            </a:r>
            <a:endParaRPr lang="en-US" altLang="ja-JP" dirty="0"/>
          </a:p>
          <a:p>
            <a:r>
              <a:rPr lang="ja-JP" altLang="en-US" dirty="0"/>
              <a:t>管理用 </a:t>
            </a:r>
            <a:r>
              <a:rPr lang="en-US" altLang="ja-JP" dirty="0"/>
              <a:t>API </a:t>
            </a:r>
            <a:r>
              <a:rPr lang="ja-JP" altLang="en-US" dirty="0"/>
              <a:t>が利用可能</a:t>
            </a:r>
            <a:endParaRPr lang="en-US" altLang="ja-JP" dirty="0"/>
          </a:p>
        </p:txBody>
      </p:sp>
      <p:sp>
        <p:nvSpPr>
          <p:cNvPr id="4" name="Placeholder 13"/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4936736"/>
          </a:xfrm>
        </p:spPr>
        <p:txBody>
          <a:bodyPr/>
          <a:lstStyle/>
          <a:p>
            <a:pPr>
              <a:buNone/>
            </a:pPr>
            <a:r>
              <a:rPr lang="en-US" altLang="ja-JP" b="1" dirty="0"/>
              <a:t>Durable Task Scheduler</a:t>
            </a:r>
            <a:endParaRPr lang="ja-JP" b="1" dirty="0"/>
          </a:p>
          <a:p>
            <a:pPr>
              <a:buNone/>
            </a:pPr>
            <a:endParaRPr lang="ja-JP" dirty="0"/>
          </a:p>
          <a:p>
            <a:pPr lvl="0"/>
            <a:r>
              <a:rPr lang="ja-JP" altLang="en-US" dirty="0"/>
              <a:t>自分で作る必要がある</a:t>
            </a:r>
            <a:endParaRPr lang="en-US" altLang="ja-JP" dirty="0"/>
          </a:p>
          <a:p>
            <a:pPr lvl="0"/>
            <a:r>
              <a:rPr lang="ja-JP" altLang="en-US" dirty="0"/>
              <a:t>ちょっと高い</a:t>
            </a:r>
            <a:endParaRPr lang="en-US" altLang="ja-JP" dirty="0"/>
          </a:p>
          <a:p>
            <a:pPr lvl="0"/>
            <a:r>
              <a:rPr lang="ja-JP" altLang="en-US" dirty="0"/>
              <a:t>大規模への対応が可能</a:t>
            </a:r>
            <a:endParaRPr lang="en-US" altLang="ja-JP" dirty="0"/>
          </a:p>
          <a:p>
            <a:pPr lvl="0"/>
            <a:r>
              <a:rPr lang="ja-JP" altLang="en-US" dirty="0"/>
              <a:t>専用のストレージ</a:t>
            </a:r>
            <a:endParaRPr lang="en-US" altLang="ja-JP" dirty="0"/>
          </a:p>
          <a:p>
            <a:pPr lvl="0"/>
            <a:r>
              <a:rPr lang="ja-JP" dirty="0"/>
              <a:t>マネージド運用</a:t>
            </a:r>
            <a:endParaRPr lang="en-US" altLang="ja-JP" dirty="0"/>
          </a:p>
          <a:p>
            <a:pPr lvl="0"/>
            <a:r>
              <a:rPr lang="ja-JP" altLang="ja-JP" dirty="0"/>
              <a:t>専用ダッシュボード</a:t>
            </a:r>
            <a:endParaRPr lang="en-US" altLang="ja-JP" dirty="0"/>
          </a:p>
          <a:p>
            <a:pPr lvl="1"/>
            <a:r>
              <a:rPr lang="ja-JP" altLang="en-US" dirty="0"/>
              <a:t>かっこいい！！</a:t>
            </a:r>
            <a:endParaRPr lang="ja-JP" altLang="ja-JP" dirty="0"/>
          </a:p>
          <a:p>
            <a:pPr lvl="0"/>
            <a:endParaRPr lang="ja-JP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85216" y="2916268"/>
            <a:ext cx="9144000" cy="615553"/>
          </a:xfrm>
        </p:spPr>
        <p:txBody>
          <a:bodyPr/>
          <a:lstStyle/>
          <a:p>
            <a:r>
              <a:rPr lang="ja-JP" altLang="en-US" dirty="0"/>
              <a:t>デモ</a:t>
            </a:r>
            <a:endParaRPr lang="ja-JP" dirty="0"/>
          </a:p>
        </p:txBody>
      </p:sp>
      <p:pic>
        <p:nvPicPr>
          <p:cNvPr id="218" name="Picture 2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8980" y="1599499"/>
            <a:ext cx="6653718" cy="4383767"/>
          </a:xfrm>
          <a:prstGeom prst="rect">
            <a:avLst/>
          </a:prstGeom>
          <a:ln w="12700">
            <a:solidFill>
              <a:srgbClr val="404040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まとめ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>
          <a:xfrm>
            <a:off x="584200" y="1435100"/>
            <a:ext cx="11018838" cy="5158335"/>
          </a:xfrm>
        </p:spPr>
        <p:txBody>
          <a:bodyPr/>
          <a:lstStyle/>
          <a:p>
            <a:pPr lvl="0"/>
            <a:r>
              <a:rPr lang="en-US" altLang="ja-JP" dirty="0"/>
              <a:t>Azure Functions</a:t>
            </a:r>
          </a:p>
          <a:p>
            <a:pPr lvl="1"/>
            <a:r>
              <a:rPr lang="ja-JP" altLang="en-US" dirty="0"/>
              <a:t>サーバーレス サービス</a:t>
            </a:r>
            <a:endParaRPr lang="en-US" altLang="ja-JP" dirty="0"/>
          </a:p>
          <a:p>
            <a:pPr lvl="1"/>
            <a:r>
              <a:rPr lang="ja-JP" altLang="en-US" dirty="0"/>
              <a:t>凄いスケールする</a:t>
            </a:r>
            <a:endParaRPr lang="en-US" altLang="ja-JP" dirty="0"/>
          </a:p>
          <a:p>
            <a:pPr lvl="1"/>
            <a:r>
              <a:rPr lang="ja-JP" altLang="en-US" dirty="0"/>
              <a:t>短時間の処理が得意</a:t>
            </a:r>
            <a:endParaRPr lang="en-US" altLang="ja-JP" dirty="0"/>
          </a:p>
          <a:p>
            <a:r>
              <a:rPr lang="en-US" altLang="ja-JP" dirty="0"/>
              <a:t>Durable Functions</a:t>
            </a:r>
          </a:p>
          <a:p>
            <a:pPr lvl="1"/>
            <a:r>
              <a:rPr lang="en-US" altLang="ja-JP" dirty="0"/>
              <a:t>Azure Functions </a:t>
            </a:r>
            <a:r>
              <a:rPr lang="ja-JP" altLang="en-US" dirty="0"/>
              <a:t>の拡張機能</a:t>
            </a:r>
            <a:endParaRPr lang="en-US" altLang="ja-JP" dirty="0"/>
          </a:p>
          <a:p>
            <a:pPr lvl="1"/>
            <a:r>
              <a:rPr lang="ja-JP" altLang="en-US" dirty="0"/>
              <a:t>長時間実行可能！</a:t>
            </a:r>
            <a:endParaRPr lang="en-US" altLang="ja-JP" dirty="0"/>
          </a:p>
          <a:p>
            <a:pPr lvl="1"/>
            <a:r>
              <a:rPr lang="ja-JP" altLang="en-US" dirty="0"/>
              <a:t>耐久性もある！</a:t>
            </a:r>
            <a:endParaRPr lang="en-US" altLang="ja-JP" dirty="0"/>
          </a:p>
          <a:p>
            <a:pPr lvl="1"/>
            <a:r>
              <a:rPr lang="ja-JP" altLang="en-US" dirty="0"/>
              <a:t>プログラミング言語で完全に制御可能！</a:t>
            </a:r>
            <a:endParaRPr lang="en-US" altLang="ja-JP" dirty="0"/>
          </a:p>
          <a:p>
            <a:r>
              <a:rPr lang="en-US" altLang="ja-JP" dirty="0"/>
              <a:t>Durable Task Scheduler</a:t>
            </a:r>
          </a:p>
          <a:p>
            <a:pPr lvl="1"/>
            <a:r>
              <a:rPr lang="en-US" altLang="ja-JP" dirty="0"/>
              <a:t>Durable Functions </a:t>
            </a:r>
            <a:r>
              <a:rPr lang="ja-JP" altLang="en-US" dirty="0"/>
              <a:t>用の専用バックエンド</a:t>
            </a:r>
            <a:endParaRPr lang="en-US" altLang="ja-JP" dirty="0"/>
          </a:p>
          <a:p>
            <a:pPr lvl="1"/>
            <a:r>
              <a:rPr lang="en-US" altLang="ja-JP" dirty="0"/>
              <a:t>Storage Account </a:t>
            </a:r>
            <a:r>
              <a:rPr lang="ja-JP" altLang="en-US" dirty="0"/>
              <a:t>よりは高いけど高性能</a:t>
            </a:r>
            <a:endParaRPr lang="en-US" altLang="ja-JP" dirty="0"/>
          </a:p>
          <a:p>
            <a:pPr lvl="1"/>
            <a:r>
              <a:rPr lang="ja-JP" altLang="en-US" dirty="0"/>
              <a:t>ダッシュボードがかっこいい！</a:t>
            </a:r>
            <a:endParaRPr lang="en-US" altLang="ja-JP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84199" y="2121179"/>
            <a:ext cx="9456094" cy="1415772"/>
          </a:xfrm>
        </p:spPr>
        <p:txBody>
          <a:bodyPr/>
          <a:lstStyle/>
          <a:p>
            <a:r>
              <a:rPr lang="en-US" altLang="ja-JP" dirty="0"/>
              <a:t>Thank you</a:t>
            </a:r>
            <a:br>
              <a:rPr lang="en-US" altLang="ja-JP" dirty="0"/>
            </a:br>
            <a:r>
              <a:rPr lang="en-US" altLang="ja-JP" sz="4400" dirty="0"/>
              <a:t>~Durable Functions </a:t>
            </a:r>
            <a:r>
              <a:rPr lang="ja-JP" altLang="en-US" sz="4400" dirty="0"/>
              <a:t>はいいぞ</a:t>
            </a:r>
            <a:r>
              <a:rPr lang="en-US" altLang="ja-JP" sz="4400" dirty="0"/>
              <a:t>~</a:t>
            </a:r>
            <a:endParaRPr lang="ja-JP" dirty="0"/>
          </a:p>
        </p:txBody>
      </p:sp>
      <p:sp>
        <p:nvSpPr>
          <p:cNvPr id="3" name="Placeholder 12"/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>
              <a:buNone/>
            </a:pPr>
            <a:r>
              <a:rPr lang="ja-JP" dirty="0"/>
              <a:t>#YonaAz</a:t>
            </a:r>
          </a:p>
        </p:txBody>
      </p:sp>
      <p:sp>
        <p:nvSpPr>
          <p:cNvPr id="4" name="Placeholder 13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>
              <a:buNone/>
            </a:pPr>
            <a:r>
              <a:rPr lang="ja-JP" dirty="0"/>
              <a:t>github.com/runceel/yonayona-durable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4-07-29-theme">
  <a:themeElements>
    <a:clrScheme name="Custom 4">
      <a:dk1>
        <a:srgbClr val="000000"/>
      </a:dk1>
      <a:lt1>
        <a:srgbClr val="FFFFFF"/>
      </a:lt1>
      <a:dk2>
        <a:srgbClr val="0078D4"/>
      </a:dk2>
      <a:lt2>
        <a:srgbClr val="E8E6DF"/>
      </a:lt2>
      <a:accent1>
        <a:srgbClr val="0078D4"/>
      </a:accent1>
      <a:accent2>
        <a:srgbClr val="2A446F"/>
      </a:accent2>
      <a:accent3>
        <a:srgbClr val="49C5B1"/>
      </a:accent3>
      <a:accent4>
        <a:srgbClr val="8DE971"/>
      </a:accent4>
      <a:accent5>
        <a:srgbClr val="F4364F"/>
      </a:accent5>
      <a:accent6>
        <a:srgbClr val="C03BC4"/>
      </a:accent6>
      <a:hlink>
        <a:srgbClr val="091F2C"/>
      </a:hlink>
      <a:folHlink>
        <a:srgbClr val="091F2C"/>
      </a:folHlink>
    </a:clrScheme>
    <a:fontScheme name="ユーザー定義 1">
      <a:majorFont>
        <a:latin typeface="Yu Gothic UI Light"/>
        <a:ea typeface="游ゴシック Light"/>
        <a:cs typeface=""/>
      </a:majorFont>
      <a:minorFont>
        <a:latin typeface="Yu Gothic UI"/>
        <a:ea typeface="游ゴシック"/>
        <a:cs typeface=""/>
      </a:minorFont>
    </a:fontScheme>
    <a:fmtScheme name="クチュール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kumimoji="1" sz="2000" dirty="0" err="1">
            <a:solidFill>
              <a:srgbClr val="FFFFFF"/>
            </a:solidFill>
            <a:latin typeface="+mn-ea"/>
            <a:ea typeface="+mn-ea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 smtClean="0"/>
        </a:defPPr>
      </a:lstStyle>
    </a:txDef>
  </a:objectDefaults>
  <a:extraClrSchemeLst/>
  <a:custClrLst>
    <a:custClr name="Light Brown">
      <a:srgbClr val="E1D3C7"/>
    </a:custClr>
    <a:custClr name="Light Yellow">
      <a:srgbClr val="FFE399"/>
    </a:custClr>
    <a:custClr name="Light Orange">
      <a:srgbClr val="FFA38B"/>
    </a:custClr>
    <a:custClr name="Light Red">
      <a:srgbClr val="FFB3BB"/>
    </a:custClr>
    <a:custClr name="Light Magenta">
      <a:srgbClr val="D59ED7"/>
    </a:custClr>
    <a:custClr name="Light Purple">
      <a:srgbClr val="C5B4E3"/>
    </a:custClr>
    <a:custClr name="Light Blue">
      <a:srgbClr val="8DC8E8"/>
    </a:custClr>
    <a:custClr name="Light Teal">
      <a:srgbClr val="B9DCD2"/>
    </a:custClr>
    <a:custClr name="Light Green">
      <a:srgbClr val="D4EC8E"/>
    </a:custClr>
    <a:custClr name="Blue Black">
      <a:srgbClr val="091F2C"/>
    </a:custClr>
    <a:custClr name="Brown">
      <a:srgbClr val="BF9474"/>
    </a:custClr>
    <a:custClr name="Yellow">
      <a:srgbClr val="FFB900"/>
    </a:custClr>
    <a:custClr name="Orange">
      <a:srgbClr val="FF5C39"/>
    </a:custClr>
    <a:custClr name="Red">
      <a:srgbClr val="F4364C"/>
    </a:custClr>
    <a:custClr name="Magenta">
      <a:srgbClr val="C03BC4"/>
    </a:custClr>
    <a:custClr name="Purple">
      <a:srgbClr val="8661C5"/>
    </a:custClr>
    <a:custClr name="Blue">
      <a:srgbClr val="0078D4"/>
    </a:custClr>
    <a:custClr name="Teal">
      <a:srgbClr val="49C5B1"/>
    </a:custClr>
    <a:custClr name="Green">
      <a:srgbClr val="8DE971"/>
    </a:custClr>
    <a:custClr name="Rich Black">
      <a:srgbClr val="000000"/>
    </a:custClr>
    <a:custClr name="Dark Brown">
      <a:srgbClr val="5C4738"/>
    </a:custClr>
    <a:custClr name="Dark Yellow">
      <a:srgbClr val="7F5A1A"/>
    </a:custClr>
    <a:custClr name="Dark Orange">
      <a:srgbClr val="73391D"/>
    </a:custClr>
    <a:custClr name="Dark Red">
      <a:srgbClr val="73262F"/>
    </a:custClr>
    <a:custClr name="Dark Magenta">
      <a:srgbClr val="702573"/>
    </a:custClr>
    <a:custClr name="Dark Purple">
      <a:srgbClr val="463668"/>
    </a:custClr>
    <a:custClr name="Dark Blue">
      <a:srgbClr val="2A446F"/>
    </a:custClr>
    <a:custClr name="Dark Teal">
      <a:srgbClr val="225B62"/>
    </a:custClr>
    <a:custClr name="Dark Green">
      <a:srgbClr val="07641D"/>
    </a:custClr>
    <a:custClr name="Brown Black">
      <a:srgbClr val="291817"/>
    </a:custClr>
    <a:custClr name="Pure White">
      <a:srgbClr val="FFFFFF"/>
    </a:custClr>
    <a:custClr name="Off White">
      <a:srgbClr val="F4F3F5"/>
    </a:custClr>
    <a:custClr name="Warm White">
      <a:srgbClr val="FFF8F3"/>
    </a:custClr>
    <a:custClr name="Warm Light Gray">
      <a:srgbClr val="E8E6DF"/>
    </a:custClr>
    <a:custClr name="Mid Gray">
      <a:srgbClr val="D7D2CB"/>
    </a:custClr>
    <a:custClr name="Warm Gray">
      <a:srgbClr val="8C8279"/>
    </a:custClr>
    <a:custClr name="Light Gray">
      <a:srgbClr val="D9D9D6"/>
    </a:custClr>
    <a:custClr name="Cool Gray">
      <a:srgbClr val="B1B3B3"/>
    </a:custClr>
    <a:custClr name="Dark Gray">
      <a:srgbClr val="454142"/>
    </a:custClr>
    <a:custClr name="Pure White">
      <a:srgbClr val="FFFFFF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</a:custClrLst>
  <a:extLst>
    <a:ext uri="{05A4C25C-085E-4340-85A3-A5531E510DB2}">
      <thm15:themeFamily xmlns:thm15="http://schemas.microsoft.com/office/thememl/2012/main" name="2024-07-29-theme" id="{178820AD-3201-4B9B-9A81-7335BDE02A91}" vid="{920B8F76-AF69-4BC5-9C28-EAE2FD99EE23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2024-07-29-theme</Template>
  <TotalTime>432</TotalTime>
  <Words>744</Words>
  <Application>Microsoft Office PowerPoint</Application>
  <PresentationFormat>ワイド画面</PresentationFormat>
  <Paragraphs>196</Paragraphs>
  <Slides>22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22</vt:i4>
      </vt:variant>
    </vt:vector>
  </HeadingPairs>
  <TitlesOfParts>
    <vt:vector size="30" baseType="lpstr">
      <vt:lpstr>Yu Gothic UI</vt:lpstr>
      <vt:lpstr>Yu Gothic UI Light</vt:lpstr>
      <vt:lpstr>游ゴシック</vt:lpstr>
      <vt:lpstr>Arial</vt:lpstr>
      <vt:lpstr>Consolas</vt:lpstr>
      <vt:lpstr>Segoe UI</vt:lpstr>
      <vt:lpstr>Wingdings</vt:lpstr>
      <vt:lpstr>2024-07-29-theme</vt:lpstr>
      <vt:lpstr>Durable Functions 入門</vt:lpstr>
      <vt:lpstr>自己紹介</vt:lpstr>
      <vt:lpstr>このセッションのゴール</vt:lpstr>
      <vt:lpstr>アジェンダ</vt:lpstr>
      <vt:lpstr>Azure Functions とは</vt:lpstr>
      <vt:lpstr>Azure Functions 概要</vt:lpstr>
      <vt:lpstr>Azure Functions 概要</vt:lpstr>
      <vt:lpstr>Azure Functions の特徴</vt:lpstr>
      <vt:lpstr>Durable Functions とは</vt:lpstr>
      <vt:lpstr>Durable Functions とは</vt:lpstr>
      <vt:lpstr>普通の Functions と Durable Functions の違い</vt:lpstr>
      <vt:lpstr>何故、長時間実行可能で耐久性がある？</vt:lpstr>
      <vt:lpstr>何故、長時間実行可能で耐久性がある？</vt:lpstr>
      <vt:lpstr>Durable Functions の登場人物</vt:lpstr>
      <vt:lpstr>Durable Functions の登場人物</vt:lpstr>
      <vt:lpstr>Durable Functions のユースケース</vt:lpstr>
      <vt:lpstr>Durable Task Scheduler</vt:lpstr>
      <vt:lpstr>Durable Task Scheduler (DTS)</vt:lpstr>
      <vt:lpstr>他のバックエンドとの比較</vt:lpstr>
      <vt:lpstr>デモ</vt:lpstr>
      <vt:lpstr>まとめ</vt:lpstr>
      <vt:lpstr>Thank you ~Durable Functions はいいぞ~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Kazuki Ota</dc:creator>
  <cp:lastModifiedBy>Kazuki Ota</cp:lastModifiedBy>
  <cp:revision>44</cp:revision>
  <dcterms:created xsi:type="dcterms:W3CDTF">2026-05-21T06:38:06Z</dcterms:created>
  <dcterms:modified xsi:type="dcterms:W3CDTF">2026-06-12T08:18:35Z</dcterms:modified>
</cp:coreProperties>
</file>