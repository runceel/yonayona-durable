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7" r:id="rId2"/>
    <p:sldId id="258" r:id="rId3"/>
    <p:sldId id="259" r:id="rId4"/>
    <p:sldId id="260" r:id="rId5"/>
    <p:sldId id="1589" r:id="rId6"/>
    <p:sldId id="2123" r:id="rId7"/>
    <p:sldId id="2122" r:id="rId8"/>
    <p:sldId id="278" r:id="rId9"/>
    <p:sldId id="277" r:id="rId10"/>
    <p:sldId id="261" r:id="rId11"/>
    <p:sldId id="263" r:id="rId12"/>
    <p:sldId id="262" r:id="rId13"/>
    <p:sldId id="10742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1" d="100"/>
          <a:sy n="51" d="100"/>
        </p:scale>
        <p:origin x="228" y="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CED17-9E9F-4FC2-84CC-8FC48595244C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461A2-9FEB-42C9-95CE-CE909666CF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5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23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6636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75099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3.xml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b="1" dirty="0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sz="2400" dirty="0"/>
              <a:t>〜 Durable Agent への道</a:t>
            </a:r>
          </a:p>
          <a:p>
            <a:pPr>
              <a:buNone/>
            </a:pPr>
            <a:endParaRPr lang="ja-JP" dirty="0"/>
          </a:p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主要パターン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dirty="0"/>
              <a:t>Live Demo</a:t>
            </a:r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lang="en-US" altLang="ja-JP" dirty="0"/>
              <a:t>Azure</a:t>
            </a:r>
            <a:r>
              <a:rPr lang="ja-JP" dirty="0"/>
              <a:t>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us 17"/>
          <p:cNvSpPr/>
          <p:nvPr/>
        </p:nvSpPr>
        <p:spPr bwMode="auto">
          <a:xfrm>
            <a:off x="5749870" y="3332794"/>
            <a:ext cx="787420" cy="684181"/>
          </a:xfrm>
          <a:prstGeom prst="mathPlus">
            <a:avLst>
              <a:gd name="adj1" fmla="val 8757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03" tIns="146243" rIns="182803" bIns="146243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007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20549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ja-JP" altLang="en-US" sz="24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コード</a:t>
            </a:r>
            <a:endParaRPr kumimoji="0" lang="ja-JP" altLang="en-US" sz="24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8184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marL="0" marR="0" lvl="0" indent="0" algn="ctr" defTabSz="914086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4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effectLst/>
                <a:uLnTx/>
                <a:uFillTx/>
                <a:latin typeface="Segoe UI" panose="020B0502040204020203" pitchFamily="34" charset="0"/>
                <a:ea typeface="Yu Gothic UI" panose="020B0500000000000000" pitchFamily="50" charset="-128"/>
              </a:rPr>
              <a:t>イベント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3805" y="2349990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90291" y="2337794"/>
            <a:ext cx="981839" cy="2793437"/>
          </a:xfrm>
          <a:prstGeom prst="rect">
            <a:avLst/>
          </a:prstGeom>
        </p:spPr>
      </p:pic>
      <p:pic>
        <p:nvPicPr>
          <p:cNvPr id="22" name="slash"/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09283" y="2353296"/>
            <a:ext cx="93897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1968" y="2387595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34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4="http://schemas.microsoft.com/office/drawing/2010/main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4656000" y="1751821"/>
            <a:ext cx="2880000" cy="626400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no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Azure</a:t>
            </a:r>
            <a:r>
              <a:rPr lang="ja-JP" altLang="en-US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 </a:t>
            </a: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Functions</a:t>
            </a:r>
            <a:endParaRPr kumimoji="0" lang="ja-JP" altLang="en-US" sz="28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6000" y="2244442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2486" y="2244442"/>
            <a:ext cx="98183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440" y="2373599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35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ED3743F-DDEA-3EB4-B0BC-8CE11D7CD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の特徴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B96B07-DD46-1826-35A5-8BC13D901D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1982081"/>
          </a:xfrm>
        </p:spPr>
        <p:txBody>
          <a:bodyPr/>
          <a:lstStyle/>
          <a:p>
            <a:r>
              <a:rPr lang="ja-JP" altLang="en-US" dirty="0"/>
              <a:t>イベント駆動</a:t>
            </a:r>
            <a:endParaRPr lang="en-US" altLang="ja-JP" dirty="0"/>
          </a:p>
          <a:p>
            <a:r>
              <a:rPr lang="ja-JP" altLang="en-US" dirty="0"/>
              <a:t>イベント数に応じた自動スケール（最大</a:t>
            </a:r>
            <a:r>
              <a:rPr lang="en-US" altLang="ja-JP" dirty="0"/>
              <a:t>1000</a:t>
            </a:r>
            <a:r>
              <a:rPr lang="ja-JP" altLang="en-US" dirty="0"/>
              <a:t>台）</a:t>
            </a:r>
            <a:endParaRPr lang="en-US" altLang="ja-JP" dirty="0"/>
          </a:p>
          <a:p>
            <a:r>
              <a:rPr lang="ja-JP" altLang="en-US" dirty="0"/>
              <a:t>使った分だけ細かく課金</a:t>
            </a:r>
            <a:endParaRPr lang="en-US" altLang="ja-JP" dirty="0"/>
          </a:p>
          <a:p>
            <a:r>
              <a:rPr lang="ja-JP" altLang="en-US" dirty="0"/>
              <a:t>実行時間は</a:t>
            </a:r>
            <a:r>
              <a:rPr lang="en-US" altLang="ja-JP" dirty="0"/>
              <a:t>5</a:t>
            </a:r>
            <a:r>
              <a:rPr lang="ja-JP" altLang="en-US" dirty="0"/>
              <a:t>分以内（長くても</a:t>
            </a:r>
            <a:r>
              <a:rPr lang="en-US" altLang="ja-JP" dirty="0"/>
              <a:t>10</a:t>
            </a:r>
            <a:r>
              <a:rPr lang="ja-JP" altLang="en-US" dirty="0"/>
              <a:t>分）</a:t>
            </a: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29ECA0B4-B373-9A90-D57B-2CEAEBF77F7B}"/>
              </a:ext>
            </a:extLst>
          </p:cNvPr>
          <p:cNvSpPr/>
          <p:nvPr/>
        </p:nvSpPr>
        <p:spPr bwMode="auto">
          <a:xfrm>
            <a:off x="5481029" y="3553901"/>
            <a:ext cx="1063689" cy="681135"/>
          </a:xfrm>
          <a:prstGeom prst="downArrow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2ACE08-5933-BA7D-E98C-DA8AA58B5D72}"/>
              </a:ext>
            </a:extLst>
          </p:cNvPr>
          <p:cNvSpPr/>
          <p:nvPr/>
        </p:nvSpPr>
        <p:spPr bwMode="auto">
          <a:xfrm>
            <a:off x="1440019" y="4384322"/>
            <a:ext cx="8967516" cy="207715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ja-JP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Azure Functions </a:t>
            </a:r>
            <a:r>
              <a:rPr kumimoji="1" lang="ja-JP" altLang="en-US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が向いている処理</a:t>
            </a:r>
            <a:endParaRPr kumimoji="1" lang="en-US" altLang="ja-JP" sz="2400" b="1" u="sng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小さいコード</a:t>
            </a:r>
            <a:endParaRPr kumimoji="1" lang="en-US" altLang="ja-JP" sz="24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ステートレス 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(</a:t>
            </a: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毎回作って壊して何回も実行してよいもの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)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短時間で終わる処理</a:t>
            </a:r>
          </a:p>
        </p:txBody>
      </p:sp>
    </p:spTree>
    <p:extLst>
      <p:ext uri="{BB962C8B-B14F-4D97-AF65-F5344CB8AC3E}">
        <p14:creationId xmlns:p14="http://schemas.microsoft.com/office/powerpoint/2010/main" val="39736278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DE701A-879E-0178-EB9B-2B377608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kumimoji="1" lang="en-US" altLang="ja-JP" dirty="0"/>
              <a:t>Durable Functions</a:t>
            </a:r>
            <a:r>
              <a:rPr kumimoji="1" lang="ja-JP" altLang="en-US" dirty="0"/>
              <a:t> とは</a:t>
            </a:r>
          </a:p>
        </p:txBody>
      </p:sp>
    </p:spTree>
    <p:extLst>
      <p:ext uri="{BB962C8B-B14F-4D97-AF65-F5344CB8AC3E}">
        <p14:creationId xmlns:p14="http://schemas.microsoft.com/office/powerpoint/2010/main" val="381603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8A654E6-D3A4-1AA5-8354-2867D289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とは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DC79000-D2F6-0DBB-C831-4D72430563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982081"/>
          </a:xfrm>
        </p:spPr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の拡張機能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長時間実行可能（数日以上）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耐久性がある（サーバーが再起動しても平気）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状態をもったオブジェクトを実装可能</a:t>
            </a:r>
            <a:endParaRPr lang="en-US" altLang="ja-JP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2E64F93-7B14-904C-EE04-5479867CBE09}"/>
              </a:ext>
            </a:extLst>
          </p:cNvPr>
          <p:cNvSpPr/>
          <p:nvPr/>
        </p:nvSpPr>
        <p:spPr bwMode="auto">
          <a:xfrm>
            <a:off x="876300" y="3867150"/>
            <a:ext cx="10306050" cy="230505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コードで書ける</a:t>
            </a:r>
            <a:endParaRPr kumimoji="1" lang="en-US" altLang="ja-JP" sz="48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（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C#, Python, TypeScript 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など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)</a:t>
            </a:r>
            <a:endParaRPr kumimoji="1" lang="ja-JP" altLang="en-US" sz="4800" b="1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528327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Functions の課題と解決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2930033"/>
          </a:xfrm>
        </p:spPr>
        <p:txBody>
          <a:bodyPr/>
          <a:lstStyle/>
          <a:p>
            <a:pPr>
              <a:buNone/>
            </a:pPr>
            <a:r>
              <a:rPr lang="ja-JP" b="1" dirty="0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altLang="en-US" dirty="0"/>
              <a:t>サーバーが再起動したら処理は終了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2499146"/>
          </a:xfrm>
        </p:spPr>
        <p:txBody>
          <a:bodyPr/>
          <a:lstStyle/>
          <a:p>
            <a:pPr>
              <a:buNone/>
            </a:pPr>
            <a:r>
              <a:rPr lang="ja-JP" b="1" dirty="0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altLang="en-US" dirty="0"/>
              <a:t>サーバーが再起動しても動く</a:t>
            </a:r>
            <a:endParaRPr lang="ja-JP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Event Sourcing で耐久性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982081"/>
          </a:xfrm>
        </p:spPr>
        <p:txBody>
          <a:bodyPr/>
          <a:lstStyle/>
          <a:p>
            <a:pPr lvl="0"/>
            <a:r>
              <a:rPr lang="ja-JP" dirty="0"/>
              <a:t>履歴を全部記録</a:t>
            </a:r>
          </a:p>
          <a:p>
            <a:pPr lvl="0"/>
            <a:r>
              <a:rPr lang="ja-JP" dirty="0"/>
              <a:t>落ちても replay で再開</a:t>
            </a:r>
          </a:p>
          <a:p>
            <a:pPr lvl="0"/>
            <a:r>
              <a:rPr lang="ja-JP" dirty="0"/>
              <a:t>ステートマシン不要</a:t>
            </a:r>
          </a:p>
          <a:p>
            <a:pPr lvl="0"/>
            <a:r>
              <a:rPr lang="ja-JP" dirty="0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595959"/>
                </a:solidFill>
              </a:rPr>
              <a:t>① 通常実行</a:t>
            </a: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 ✓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10000000" y="1750000"/>
            <a:ext cx="100000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000000" y="2650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595959"/>
                </a:solidFill>
              </a:rPr>
              <a:t>② 履歴は残る（Append-only）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09" name="Label 109"/>
          <p:cNvSpPr txBox="1"/>
          <p:nvPr/>
        </p:nvSpPr>
        <p:spPr>
          <a:xfrm>
            <a:off x="9000000" y="3000000"/>
            <a:ext cx="1700000" cy="2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ExecutionStarted</a:t>
            </a:r>
          </a:p>
        </p:txBody>
      </p:sp>
      <p:sp>
        <p:nvSpPr>
          <p:cNvPr id="110" name="Label 110"/>
          <p:cNvSpPr txBox="1"/>
          <p:nvPr/>
        </p:nvSpPr>
        <p:spPr>
          <a:xfrm>
            <a:off x="9000000" y="3200000"/>
            <a:ext cx="1700000" cy="2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A1 Completed</a:t>
            </a:r>
          </a:p>
        </p:txBody>
      </p:sp>
      <p:sp>
        <p:nvSpPr>
          <p:cNvPr id="111" name="Label 111"/>
          <p:cNvSpPr txBox="1"/>
          <p:nvPr/>
        </p:nvSpPr>
        <p:spPr>
          <a:xfrm>
            <a:off x="9000000" y="3400000"/>
            <a:ext cx="1700000" cy="2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A2 Completed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000000" y="3600000"/>
            <a:ext cx="1700000" cy="2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A3 Scheduled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6700000" y="4600000"/>
            <a:ext cx="4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595959"/>
                </a:solidFill>
              </a:rPr>
              <a:t>③ 再開 → Replay → 続きから</a:t>
            </a:r>
          </a:p>
        </p:txBody>
      </p:sp>
      <p:sp>
        <p:nvSpPr>
          <p:cNvPr id="114" name="Box 114"/>
          <p:cNvSpPr/>
          <p:nvPr/>
        </p:nvSpPr>
        <p:spPr>
          <a:xfrm>
            <a:off x="67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/>
          <p:cNvSpPr/>
          <p:nvPr/>
        </p:nvSpPr>
        <p:spPr>
          <a:xfrm>
            <a:off x="78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6" name="Box 116"/>
          <p:cNvSpPr/>
          <p:nvPr/>
        </p:nvSpPr>
        <p:spPr>
          <a:xfrm>
            <a:off x="89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A3 ✓</a:t>
            </a:r>
          </a:p>
        </p:txBody>
      </p:sp>
      <p:sp>
        <p:nvSpPr>
          <p:cNvPr id="117" name="Box 117"/>
          <p:cNvSpPr/>
          <p:nvPr/>
        </p:nvSpPr>
        <p:spPr>
          <a:xfrm>
            <a:off x="100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/>
          <p:cNvCxnSpPr/>
          <p:nvPr/>
        </p:nvCxnSpPr>
        <p:spPr>
          <a:xfrm>
            <a:off x="76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/>
          <p:cNvCxnSpPr/>
          <p:nvPr/>
        </p:nvCxnSpPr>
        <p:spPr>
          <a:xfrm>
            <a:off x="87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/>
          <p:cNvCxnSpPr/>
          <p:nvPr/>
        </p:nvCxnSpPr>
        <p:spPr>
          <a:xfrm>
            <a:off x="98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Box 100"/>
          <p:cNvSpPr/>
          <p:nvPr/>
        </p:nvSpPr>
        <p:spPr>
          <a:xfrm>
            <a:off x="64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38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3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68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4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0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/>
          <p:nvPr/>
        </p:nvCxnSpPr>
        <p:spPr>
          <a:xfrm>
            <a:off x="8003992" y="2950123"/>
            <a:ext cx="41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9953992" y="2950123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5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183992" y="3275123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1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785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80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483992" y="3750123"/>
            <a:ext cx="1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107C10"/>
                </a:solidFill>
              </a:rPr>
              <a:t>呼び出し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CC2B4B-2851-8F68-D6B4-E8D733B3207F}"/>
              </a:ext>
            </a:extLst>
          </p:cNvPr>
          <p:cNvSpPr/>
          <p:nvPr/>
        </p:nvSpPr>
        <p:spPr bwMode="auto">
          <a:xfrm>
            <a:off x="6567055" y="4206241"/>
            <a:ext cx="5366937" cy="1145000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A7AA1B41-D977-0E59-F175-CD57BE55CB04}"/>
              </a:ext>
            </a:extLst>
          </p:cNvPr>
          <p:cNvSpPr/>
          <p:nvPr/>
        </p:nvSpPr>
        <p:spPr bwMode="auto">
          <a:xfrm>
            <a:off x="5386647" y="5835535"/>
            <a:ext cx="4947345" cy="814665"/>
          </a:xfrm>
          <a:prstGeom prst="wedgeRectCallout">
            <a:avLst>
              <a:gd name="adj1" fmla="val -6383"/>
              <a:gd name="adj2" fmla="val -110966"/>
            </a:avLst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ここは短時間実行しか出来ない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53D8A4-D546-E859-CB51-5DA82F75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Durable Functions </a:t>
            </a:r>
            <a:r>
              <a:rPr kumimoji="1" lang="ja-JP" altLang="en-US" dirty="0"/>
              <a:t>の実装パターン</a:t>
            </a: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8B301E5F-59BF-5639-3D5A-D76B322DB37A}"/>
              </a:ext>
            </a:extLst>
          </p:cNvPr>
          <p:cNvGrpSpPr/>
          <p:nvPr/>
        </p:nvGrpSpPr>
        <p:grpSpPr>
          <a:xfrm>
            <a:off x="38100" y="1230591"/>
            <a:ext cx="3826125" cy="2198407"/>
            <a:chOff x="937972" y="2699669"/>
            <a:chExt cx="3417345" cy="1868383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A0A66D4-D249-B718-2651-1061E188E12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35587" y="3057539"/>
              <a:ext cx="2780789" cy="827990"/>
              <a:chOff x="975923" y="3573016"/>
              <a:chExt cx="5797608" cy="1726290"/>
            </a:xfrm>
          </p:grpSpPr>
          <p:pic>
            <p:nvPicPr>
              <p:cNvPr id="8" name="Content Placeholder 3">
                <a:extLst>
                  <a:ext uri="{FF2B5EF4-FFF2-40B4-BE49-F238E27FC236}">
                    <a16:creationId xmlns:a16="http://schemas.microsoft.com/office/drawing/2014/main" id="{102D7C39-6A6B-87E8-991E-8375014F94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1091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9" name="Cylinder 4">
                <a:extLst>
                  <a:ext uri="{FF2B5EF4-FFF2-40B4-BE49-F238E27FC236}">
                    <a16:creationId xmlns:a16="http://schemas.microsoft.com/office/drawing/2014/main" id="{3C8058D4-55AF-A683-76D6-83A78DA32098}"/>
                  </a:ext>
                </a:extLst>
              </p:cNvPr>
              <p:cNvSpPr/>
              <p:nvPr/>
            </p:nvSpPr>
            <p:spPr>
              <a:xfrm>
                <a:off x="2322718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0" name="Content Placeholder 3">
                <a:extLst>
                  <a:ext uri="{FF2B5EF4-FFF2-40B4-BE49-F238E27FC236}">
                    <a16:creationId xmlns:a16="http://schemas.microsoft.com/office/drawing/2014/main" id="{26EEF774-D6CD-6EBB-5178-687BDD58AF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0807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1" name="Cylinder 6">
                <a:extLst>
                  <a:ext uri="{FF2B5EF4-FFF2-40B4-BE49-F238E27FC236}">
                    <a16:creationId xmlns:a16="http://schemas.microsoft.com/office/drawing/2014/main" id="{8FE16C86-C807-4CE0-94E4-4033A8D3DF07}"/>
                  </a:ext>
                </a:extLst>
              </p:cNvPr>
              <p:cNvSpPr/>
              <p:nvPr/>
            </p:nvSpPr>
            <p:spPr>
              <a:xfrm>
                <a:off x="4682434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2" name="Content Placeholder 3">
                <a:extLst>
                  <a:ext uri="{FF2B5EF4-FFF2-40B4-BE49-F238E27FC236}">
                    <a16:creationId xmlns:a16="http://schemas.microsoft.com/office/drawing/2014/main" id="{2D8FFD29-62AE-3046-CF38-CE23ED14E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700523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5" name="Arrow: Right 12">
                <a:extLst>
                  <a:ext uri="{FF2B5EF4-FFF2-40B4-BE49-F238E27FC236}">
                    <a16:creationId xmlns:a16="http://schemas.microsoft.com/office/drawing/2014/main" id="{1DC3A93B-698C-6BEF-C061-C82F94037ECA}"/>
                  </a:ext>
                </a:extLst>
              </p:cNvPr>
              <p:cNvSpPr/>
              <p:nvPr/>
            </p:nvSpPr>
            <p:spPr>
              <a:xfrm>
                <a:off x="1878747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Arrow: Right 13">
                <a:extLst>
                  <a:ext uri="{FF2B5EF4-FFF2-40B4-BE49-F238E27FC236}">
                    <a16:creationId xmlns:a16="http://schemas.microsoft.com/office/drawing/2014/main" id="{F12B05E5-E632-9F26-3B9A-B0C1CD8C35F5}"/>
                  </a:ext>
                </a:extLst>
              </p:cNvPr>
              <p:cNvSpPr/>
              <p:nvPr/>
            </p:nvSpPr>
            <p:spPr>
              <a:xfrm>
                <a:off x="2890095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Arrow: Right 14">
                <a:extLst>
                  <a:ext uri="{FF2B5EF4-FFF2-40B4-BE49-F238E27FC236}">
                    <a16:creationId xmlns:a16="http://schemas.microsoft.com/office/drawing/2014/main" id="{62DD622F-51FE-9E1A-8D9B-617D46657051}"/>
                  </a:ext>
                </a:extLst>
              </p:cNvPr>
              <p:cNvSpPr/>
              <p:nvPr/>
            </p:nvSpPr>
            <p:spPr>
              <a:xfrm>
                <a:off x="4231749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Arrow: Right 15">
                <a:extLst>
                  <a:ext uri="{FF2B5EF4-FFF2-40B4-BE49-F238E27FC236}">
                    <a16:creationId xmlns:a16="http://schemas.microsoft.com/office/drawing/2014/main" id="{9B55F791-1A1E-E787-A788-F29E15BDB63C}"/>
                  </a:ext>
                </a:extLst>
              </p:cNvPr>
              <p:cNvSpPr/>
              <p:nvPr/>
            </p:nvSpPr>
            <p:spPr>
              <a:xfrm>
                <a:off x="5262396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TextBox 19">
                <a:extLst>
                  <a:ext uri="{FF2B5EF4-FFF2-40B4-BE49-F238E27FC236}">
                    <a16:creationId xmlns:a16="http://schemas.microsoft.com/office/drawing/2014/main" id="{C946FDE3-A63F-0189-BA6D-B98986E43839}"/>
                  </a:ext>
                </a:extLst>
              </p:cNvPr>
              <p:cNvSpPr txBox="1"/>
              <p:nvPr/>
            </p:nvSpPr>
            <p:spPr>
              <a:xfrm>
                <a:off x="975923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22" name="TextBox 20">
                <a:extLst>
                  <a:ext uri="{FF2B5EF4-FFF2-40B4-BE49-F238E27FC236}">
                    <a16:creationId xmlns:a16="http://schemas.microsoft.com/office/drawing/2014/main" id="{41EEDF65-1D5D-6727-B484-B7D998196C82}"/>
                  </a:ext>
                </a:extLst>
              </p:cNvPr>
              <p:cNvSpPr txBox="1"/>
              <p:nvPr/>
            </p:nvSpPr>
            <p:spPr>
              <a:xfrm>
                <a:off x="3380641" y="4336773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23" name="TextBox 21">
                <a:extLst>
                  <a:ext uri="{FF2B5EF4-FFF2-40B4-BE49-F238E27FC236}">
                    <a16:creationId xmlns:a16="http://schemas.microsoft.com/office/drawing/2014/main" id="{725E2F40-4A5E-1605-71C6-BE31C01CE2F7}"/>
                  </a:ext>
                </a:extLst>
              </p:cNvPr>
              <p:cNvSpPr txBox="1"/>
              <p:nvPr/>
            </p:nvSpPr>
            <p:spPr>
              <a:xfrm>
                <a:off x="5726795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CD32C76-D92A-8649-F3EA-31016F4EB2A0}"/>
                </a:ext>
              </a:extLst>
            </p:cNvPr>
            <p:cNvSpPr/>
            <p:nvPr/>
          </p:nvSpPr>
          <p:spPr>
            <a:xfrm>
              <a:off x="1250719" y="4072310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#1: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関数チェーン</a:t>
              </a: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4F2286F1-B1FC-F4FD-2CD7-1CD6FB251B06}"/>
                </a:ext>
              </a:extLst>
            </p:cNvPr>
            <p:cNvSpPr/>
            <p:nvPr/>
          </p:nvSpPr>
          <p:spPr bwMode="auto">
            <a:xfrm>
              <a:off x="937972" y="2699669"/>
              <a:ext cx="3417345" cy="1868383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3086184-FEF5-753A-F945-50C778322E43}"/>
              </a:ext>
            </a:extLst>
          </p:cNvPr>
          <p:cNvGrpSpPr/>
          <p:nvPr/>
        </p:nvGrpSpPr>
        <p:grpSpPr>
          <a:xfrm>
            <a:off x="3949030" y="1228460"/>
            <a:ext cx="4190247" cy="2498326"/>
            <a:chOff x="5781063" y="2390222"/>
            <a:chExt cx="3091206" cy="1973671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F1440CDD-86DA-5B95-21ED-69B19371B15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11880" y="2439527"/>
              <a:ext cx="2741803" cy="1456294"/>
              <a:chOff x="2953055" y="1413833"/>
              <a:chExt cx="5866763" cy="3116118"/>
            </a:xfrm>
          </p:grpSpPr>
          <p:pic>
            <p:nvPicPr>
              <p:cNvPr id="29" name="Content Placeholder 3">
                <a:extLst>
                  <a:ext uri="{FF2B5EF4-FFF2-40B4-BE49-F238E27FC236}">
                    <a16:creationId xmlns:a16="http://schemas.microsoft.com/office/drawing/2014/main" id="{ED5CB014-73EA-10F5-7A1B-6836818EA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953055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0" name="Cylinder 4">
                <a:extLst>
                  <a:ext uri="{FF2B5EF4-FFF2-40B4-BE49-F238E27FC236}">
                    <a16:creationId xmlns:a16="http://schemas.microsoft.com/office/drawing/2014/main" id="{73EF587F-5AEE-4B9A-DA00-2A5BB1F9059B}"/>
                  </a:ext>
                </a:extLst>
              </p:cNvPr>
              <p:cNvSpPr/>
              <p:nvPr/>
            </p:nvSpPr>
            <p:spPr>
              <a:xfrm>
                <a:off x="4294682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1" name="Content Placeholder 3">
                <a:extLst>
                  <a:ext uri="{FF2B5EF4-FFF2-40B4-BE49-F238E27FC236}">
                    <a16:creationId xmlns:a16="http://schemas.microsoft.com/office/drawing/2014/main" id="{14814C9A-B984-4811-13EF-38DA7D022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2" name="Cylinder 6">
                <a:extLst>
                  <a:ext uri="{FF2B5EF4-FFF2-40B4-BE49-F238E27FC236}">
                    <a16:creationId xmlns:a16="http://schemas.microsoft.com/office/drawing/2014/main" id="{D02CCA63-FF11-2349-6B93-9667CA678D24}"/>
                  </a:ext>
                </a:extLst>
              </p:cNvPr>
              <p:cNvSpPr/>
              <p:nvPr/>
            </p:nvSpPr>
            <p:spPr>
              <a:xfrm>
                <a:off x="6654398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3" name="Content Placeholder 3">
                <a:extLst>
                  <a:ext uri="{FF2B5EF4-FFF2-40B4-BE49-F238E27FC236}">
                    <a16:creationId xmlns:a16="http://schemas.microsoft.com/office/drawing/2014/main" id="{7DDA7F06-A093-B705-4A25-2D38D05F3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72487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4" name="Arrow: Right 8">
                <a:extLst>
                  <a:ext uri="{FF2B5EF4-FFF2-40B4-BE49-F238E27FC236}">
                    <a16:creationId xmlns:a16="http://schemas.microsoft.com/office/drawing/2014/main" id="{7753C34E-2E6D-11D2-0878-C5E485F710A3}"/>
                  </a:ext>
                </a:extLst>
              </p:cNvPr>
              <p:cNvSpPr/>
              <p:nvPr/>
            </p:nvSpPr>
            <p:spPr>
              <a:xfrm>
                <a:off x="3850711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Arrow: Right 9">
                <a:extLst>
                  <a:ext uri="{FF2B5EF4-FFF2-40B4-BE49-F238E27FC236}">
                    <a16:creationId xmlns:a16="http://schemas.microsoft.com/office/drawing/2014/main" id="{B2ADAAD3-F09E-3065-370A-BBD5DD99FC6D}"/>
                  </a:ext>
                </a:extLst>
              </p:cNvPr>
              <p:cNvSpPr/>
              <p:nvPr/>
            </p:nvSpPr>
            <p:spPr>
              <a:xfrm>
                <a:off x="4862059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6" name="Arrow: Right 10">
                <a:extLst>
                  <a:ext uri="{FF2B5EF4-FFF2-40B4-BE49-F238E27FC236}">
                    <a16:creationId xmlns:a16="http://schemas.microsoft.com/office/drawing/2014/main" id="{C301E4B6-C7AC-7DE9-4C12-E117EDF9865D}"/>
                  </a:ext>
                </a:extLst>
              </p:cNvPr>
              <p:cNvSpPr/>
              <p:nvPr/>
            </p:nvSpPr>
            <p:spPr>
              <a:xfrm>
                <a:off x="6203713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7" name="Arrow: Right 11">
                <a:extLst>
                  <a:ext uri="{FF2B5EF4-FFF2-40B4-BE49-F238E27FC236}">
                    <a16:creationId xmlns:a16="http://schemas.microsoft.com/office/drawing/2014/main" id="{BE63D187-9483-A36B-B4B4-C5AB03FCF3BF}"/>
                  </a:ext>
                </a:extLst>
              </p:cNvPr>
              <p:cNvSpPr/>
              <p:nvPr/>
            </p:nvSpPr>
            <p:spPr>
              <a:xfrm>
                <a:off x="7234360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D4174597-106A-DFD0-A77B-C99CDC61E102}"/>
                  </a:ext>
                </a:extLst>
              </p:cNvPr>
              <p:cNvSpPr txBox="1"/>
              <p:nvPr/>
            </p:nvSpPr>
            <p:spPr>
              <a:xfrm>
                <a:off x="2968549" y="2727574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70E8A5BC-2460-F678-2D0C-223C5B2EF0E9}"/>
                  </a:ext>
                </a:extLst>
              </p:cNvPr>
              <p:cNvSpPr txBox="1"/>
              <p:nvPr/>
            </p:nvSpPr>
            <p:spPr>
              <a:xfrm>
                <a:off x="5312772" y="3542099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40" name="TextBox 14">
                <a:extLst>
                  <a:ext uri="{FF2B5EF4-FFF2-40B4-BE49-F238E27FC236}">
                    <a16:creationId xmlns:a16="http://schemas.microsoft.com/office/drawing/2014/main" id="{3C5C6682-8503-3B5D-BF04-78BE885CCF15}"/>
                  </a:ext>
                </a:extLst>
              </p:cNvPr>
              <p:cNvSpPr txBox="1"/>
              <p:nvPr/>
            </p:nvSpPr>
            <p:spPr>
              <a:xfrm>
                <a:off x="7745535" y="2745281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  <p:pic>
            <p:nvPicPr>
              <p:cNvPr id="41" name="Content Placeholder 3">
                <a:extLst>
                  <a:ext uri="{FF2B5EF4-FFF2-40B4-BE49-F238E27FC236}">
                    <a16:creationId xmlns:a16="http://schemas.microsoft.com/office/drawing/2014/main" id="{B73BB84B-EA71-22B9-AADA-F23BB4CB5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94434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42" name="Content Placeholder 3">
                <a:extLst>
                  <a:ext uri="{FF2B5EF4-FFF2-40B4-BE49-F238E27FC236}">
                    <a16:creationId xmlns:a16="http://schemas.microsoft.com/office/drawing/2014/main" id="{53775684-F809-349D-C0A9-58A12E1ADB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1413833"/>
                <a:ext cx="780738" cy="765256"/>
              </a:xfrm>
              <a:prstGeom prst="rect">
                <a:avLst/>
              </a:prstGeom>
            </p:spPr>
          </p:pic>
          <p:sp>
            <p:nvSpPr>
              <p:cNvPr id="43" name="Arrow: Bent 17">
                <a:extLst>
                  <a:ext uri="{FF2B5EF4-FFF2-40B4-BE49-F238E27FC236}">
                    <a16:creationId xmlns:a16="http://schemas.microsoft.com/office/drawing/2014/main" id="{001E558D-F9FD-5C59-C7D0-1A2B8F1866B6}"/>
                  </a:ext>
                </a:extLst>
              </p:cNvPr>
              <p:cNvSpPr/>
              <p:nvPr/>
            </p:nvSpPr>
            <p:spPr>
              <a:xfrm>
                <a:off x="4471100" y="1690689"/>
                <a:ext cx="731493" cy="320992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Arrow: Bent 18">
                <a:extLst>
                  <a:ext uri="{FF2B5EF4-FFF2-40B4-BE49-F238E27FC236}">
                    <a16:creationId xmlns:a16="http://schemas.microsoft.com/office/drawing/2014/main" id="{C0896ED9-4260-0E41-EE36-EAE47FCAE8C6}"/>
                  </a:ext>
                </a:extLst>
              </p:cNvPr>
              <p:cNvSpPr/>
              <p:nvPr/>
            </p:nvSpPr>
            <p:spPr>
              <a:xfrm flipV="1">
                <a:off x="4471100" y="3111252"/>
                <a:ext cx="731493" cy="336001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5" name="Arrow: Bent 20">
                <a:extLst>
                  <a:ext uri="{FF2B5EF4-FFF2-40B4-BE49-F238E27FC236}">
                    <a16:creationId xmlns:a16="http://schemas.microsoft.com/office/drawing/2014/main" id="{EF10CA63-C746-4877-7F36-15CF62B1A07D}"/>
                  </a:ext>
                </a:extLst>
              </p:cNvPr>
              <p:cNvSpPr/>
              <p:nvPr/>
            </p:nvSpPr>
            <p:spPr>
              <a:xfrm rot="16200000" flipV="1">
                <a:off x="6428640" y="2893350"/>
                <a:ext cx="336001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6" name="Arrow: Bent 21">
                <a:extLst>
                  <a:ext uri="{FF2B5EF4-FFF2-40B4-BE49-F238E27FC236}">
                    <a16:creationId xmlns:a16="http://schemas.microsoft.com/office/drawing/2014/main" id="{CC689016-624A-0CE4-2DDA-16D6A0FF87CA}"/>
                  </a:ext>
                </a:extLst>
              </p:cNvPr>
              <p:cNvSpPr/>
              <p:nvPr/>
            </p:nvSpPr>
            <p:spPr>
              <a:xfrm rot="16200000" flipH="1" flipV="1">
                <a:off x="6445844" y="1509651"/>
                <a:ext cx="301589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EE503FD-80DA-AD6D-9C9E-6F945C8D34F5}"/>
                </a:ext>
              </a:extLst>
            </p:cNvPr>
            <p:cNvSpPr/>
            <p:nvPr/>
          </p:nvSpPr>
          <p:spPr>
            <a:xfrm>
              <a:off x="5862069" y="3779118"/>
              <a:ext cx="3010200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#2: 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ファンアウト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/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ファンイン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a16:creationId xmlns:a16="http://schemas.microsoft.com/office/drawing/2014/main" id="{09A9E7AD-1882-5E28-5F96-C310556C8864}"/>
                </a:ext>
              </a:extLst>
            </p:cNvPr>
            <p:cNvSpPr/>
            <p:nvPr/>
          </p:nvSpPr>
          <p:spPr bwMode="auto">
            <a:xfrm>
              <a:off x="5781063" y="2390222"/>
              <a:ext cx="3060000" cy="1728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15834F70-1693-F5BF-10EB-AA063D93E969}"/>
              </a:ext>
            </a:extLst>
          </p:cNvPr>
          <p:cNvGrpSpPr/>
          <p:nvPr/>
        </p:nvGrpSpPr>
        <p:grpSpPr>
          <a:xfrm>
            <a:off x="8250759" y="1175681"/>
            <a:ext cx="4754712" cy="2813154"/>
            <a:chOff x="9238339" y="2116730"/>
            <a:chExt cx="3305699" cy="2232000"/>
          </a:xfrm>
        </p:grpSpPr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DE571A55-6807-45CF-CCF8-DD51B4B372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580640" y="2255901"/>
              <a:ext cx="2155979" cy="1912041"/>
              <a:chOff x="3275991" y="1690688"/>
              <a:chExt cx="4008545" cy="3555002"/>
            </a:xfrm>
          </p:grpSpPr>
          <p:pic>
            <p:nvPicPr>
              <p:cNvPr id="51" name="Content Placeholder 3">
                <a:extLst>
                  <a:ext uri="{FF2B5EF4-FFF2-40B4-BE49-F238E27FC236}">
                    <a16:creationId xmlns:a16="http://schemas.microsoft.com/office/drawing/2014/main" id="{B74BE108-4721-6409-DBEE-8848A8AE3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15247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2" name="Cylinder 4">
                <a:extLst>
                  <a:ext uri="{FF2B5EF4-FFF2-40B4-BE49-F238E27FC236}">
                    <a16:creationId xmlns:a16="http://schemas.microsoft.com/office/drawing/2014/main" id="{1493750A-E1B7-A6F0-7C12-2FF368D019DF}"/>
                  </a:ext>
                </a:extLst>
              </p:cNvPr>
              <p:cNvSpPr/>
              <p:nvPr/>
            </p:nvSpPr>
            <p:spPr>
              <a:xfrm>
                <a:off x="5056874" y="2870413"/>
                <a:ext cx="457200" cy="639062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53" name="Content Placeholder 3">
                <a:extLst>
                  <a:ext uri="{FF2B5EF4-FFF2-40B4-BE49-F238E27FC236}">
                    <a16:creationId xmlns:a16="http://schemas.microsoft.com/office/drawing/2014/main" id="{E0C9E523-2553-0DC7-58BA-AE70F99E84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74963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4" name="Arrow: Right 6">
                <a:extLst>
                  <a:ext uri="{FF2B5EF4-FFF2-40B4-BE49-F238E27FC236}">
                    <a16:creationId xmlns:a16="http://schemas.microsoft.com/office/drawing/2014/main" id="{968F56E6-0E87-240A-3A72-D08A409352FC}"/>
                  </a:ext>
                </a:extLst>
              </p:cNvPr>
              <p:cNvSpPr/>
              <p:nvPr/>
            </p:nvSpPr>
            <p:spPr>
              <a:xfrm>
                <a:off x="4612903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5" name="Arrow: Right 7">
                <a:extLst>
                  <a:ext uri="{FF2B5EF4-FFF2-40B4-BE49-F238E27FC236}">
                    <a16:creationId xmlns:a16="http://schemas.microsoft.com/office/drawing/2014/main" id="{B13178FA-9FE9-B64D-6C5E-A636BD549B25}"/>
                  </a:ext>
                </a:extLst>
              </p:cNvPr>
              <p:cNvSpPr/>
              <p:nvPr/>
            </p:nvSpPr>
            <p:spPr>
              <a:xfrm>
                <a:off x="5624251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6" name="TextBox 8">
                <a:extLst>
                  <a:ext uri="{FF2B5EF4-FFF2-40B4-BE49-F238E27FC236}">
                    <a16:creationId xmlns:a16="http://schemas.microsoft.com/office/drawing/2014/main" id="{6B15F034-921A-C019-E8A1-38D0A7C28BBE}"/>
                  </a:ext>
                </a:extLst>
              </p:cNvPr>
              <p:cNvSpPr txBox="1"/>
              <p:nvPr/>
            </p:nvSpPr>
            <p:spPr>
              <a:xfrm>
                <a:off x="3599091" y="2297327"/>
                <a:ext cx="1121803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Start</a:t>
                </a:r>
              </a:p>
            </p:txBody>
          </p:sp>
          <p:sp>
            <p:nvSpPr>
              <p:cNvPr id="57" name="TextBox 9">
                <a:extLst>
                  <a:ext uri="{FF2B5EF4-FFF2-40B4-BE49-F238E27FC236}">
                    <a16:creationId xmlns:a16="http://schemas.microsoft.com/office/drawing/2014/main" id="{E6278AAE-5FE7-815D-0181-57300FD2A8AB}"/>
                  </a:ext>
                </a:extLst>
              </p:cNvPr>
              <p:cNvSpPr txBox="1"/>
              <p:nvPr/>
            </p:nvSpPr>
            <p:spPr>
              <a:xfrm>
                <a:off x="5649454" y="2267153"/>
                <a:ext cx="1635082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DoWork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8" name="Cylinder 10">
                <a:extLst>
                  <a:ext uri="{FF2B5EF4-FFF2-40B4-BE49-F238E27FC236}">
                    <a16:creationId xmlns:a16="http://schemas.microsoft.com/office/drawing/2014/main" id="{2A1F3E48-0AE1-3E96-5FE7-85CCDF9A0390}"/>
                  </a:ext>
                </a:extLst>
              </p:cNvPr>
              <p:cNvSpPr/>
              <p:nvPr/>
            </p:nvSpPr>
            <p:spPr>
              <a:xfrm>
                <a:off x="5056874" y="1690688"/>
                <a:ext cx="457200" cy="726929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9" name="Arrow: Bent 11">
                <a:extLst>
                  <a:ext uri="{FF2B5EF4-FFF2-40B4-BE49-F238E27FC236}">
                    <a16:creationId xmlns:a16="http://schemas.microsoft.com/office/drawing/2014/main" id="{50308537-5E24-D3AE-6245-F6C6DA2CD307}"/>
                  </a:ext>
                </a:extLst>
              </p:cNvPr>
              <p:cNvSpPr/>
              <p:nvPr/>
            </p:nvSpPr>
            <p:spPr>
              <a:xfrm flipV="1">
                <a:off x="4051677" y="2786947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0" name="Arrow: Bent 12">
                <a:extLst>
                  <a:ext uri="{FF2B5EF4-FFF2-40B4-BE49-F238E27FC236}">
                    <a16:creationId xmlns:a16="http://schemas.microsoft.com/office/drawing/2014/main" id="{01320C93-6DEE-EF31-A6D0-B2FF5EB60853}"/>
                  </a:ext>
                </a:extLst>
              </p:cNvPr>
              <p:cNvSpPr/>
              <p:nvPr/>
            </p:nvSpPr>
            <p:spPr>
              <a:xfrm flipH="1" flipV="1">
                <a:off x="5645119" y="2786946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61" name="Content Placeholder 3">
                <a:extLst>
                  <a:ext uri="{FF2B5EF4-FFF2-40B4-BE49-F238E27FC236}">
                    <a16:creationId xmlns:a16="http://schemas.microsoft.com/office/drawing/2014/main" id="{2DA24CF1-EC62-2288-E20A-9F8FEB661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89471" y="3479006"/>
                <a:ext cx="780738" cy="765256"/>
              </a:xfrm>
              <a:prstGeom prst="rect">
                <a:avLst/>
              </a:prstGeom>
            </p:spPr>
          </p:pic>
          <p:sp>
            <p:nvSpPr>
              <p:cNvPr id="62" name="Arrow: Bent 14">
                <a:extLst>
                  <a:ext uri="{FF2B5EF4-FFF2-40B4-BE49-F238E27FC236}">
                    <a16:creationId xmlns:a16="http://schemas.microsoft.com/office/drawing/2014/main" id="{2787435E-76F1-2A0F-8663-FD44CD1E2024}"/>
                  </a:ext>
                </a:extLst>
              </p:cNvPr>
              <p:cNvSpPr/>
              <p:nvPr/>
            </p:nvSpPr>
            <p:spPr>
              <a:xfrm rot="16200000" flipV="1">
                <a:off x="4816460" y="3415851"/>
                <a:ext cx="336001" cy="743115"/>
              </a:xfrm>
              <a:prstGeom prst="bentArrow">
                <a:avLst>
                  <a:gd name="adj1" fmla="val 31692"/>
                  <a:gd name="adj2" fmla="val 29462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3" name="TextBox 15">
                <a:extLst>
                  <a:ext uri="{FF2B5EF4-FFF2-40B4-BE49-F238E27FC236}">
                    <a16:creationId xmlns:a16="http://schemas.microsoft.com/office/drawing/2014/main" id="{F9E57705-21BD-4742-303F-E357A95CE5A0}"/>
                  </a:ext>
                </a:extLst>
              </p:cNvPr>
              <p:cNvSpPr txBox="1"/>
              <p:nvPr/>
            </p:nvSpPr>
            <p:spPr>
              <a:xfrm>
                <a:off x="3275991" y="4043986"/>
                <a:ext cx="1758361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GetStatus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4" name="Arrow: Right 16">
                <a:extLst>
                  <a:ext uri="{FF2B5EF4-FFF2-40B4-BE49-F238E27FC236}">
                    <a16:creationId xmlns:a16="http://schemas.microsoft.com/office/drawing/2014/main" id="{7E9AB3E4-D1AA-4808-4A0C-74D8AF6DE6A3}"/>
                  </a:ext>
                </a:extLst>
              </p:cNvPr>
              <p:cNvSpPr/>
              <p:nvPr/>
            </p:nvSpPr>
            <p:spPr>
              <a:xfrm>
                <a:off x="3291084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5" name="Arrow: Right 17">
                <a:extLst>
                  <a:ext uri="{FF2B5EF4-FFF2-40B4-BE49-F238E27FC236}">
                    <a16:creationId xmlns:a16="http://schemas.microsoft.com/office/drawing/2014/main" id="{73C0B803-0FED-E320-476E-199CE85A83DD}"/>
                  </a:ext>
                </a:extLst>
              </p:cNvPr>
              <p:cNvSpPr/>
              <p:nvPr/>
            </p:nvSpPr>
            <p:spPr>
              <a:xfrm>
                <a:off x="3289988" y="3744969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0D78D259-C70D-0D50-2E00-21E4CB9AFB24}"/>
                </a:ext>
              </a:extLst>
            </p:cNvPr>
            <p:cNvSpPr/>
            <p:nvPr/>
          </p:nvSpPr>
          <p:spPr>
            <a:xfrm>
              <a:off x="9308857" y="3887124"/>
              <a:ext cx="323518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#3: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非同期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HTTP API</a:t>
              </a:r>
              <a:endParaRPr kumimoji="0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772669D8-C9B9-5E36-E1E1-7C33A24CC42E}"/>
                </a:ext>
              </a:extLst>
            </p:cNvPr>
            <p:cNvSpPr/>
            <p:nvPr/>
          </p:nvSpPr>
          <p:spPr bwMode="auto">
            <a:xfrm>
              <a:off x="9238339" y="2116730"/>
              <a:ext cx="2700000" cy="2232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57FE09E6-BDD8-2930-A4FB-EB99E7BCF048}"/>
              </a:ext>
            </a:extLst>
          </p:cNvPr>
          <p:cNvGrpSpPr/>
          <p:nvPr/>
        </p:nvGrpSpPr>
        <p:grpSpPr>
          <a:xfrm>
            <a:off x="3367606" y="4066531"/>
            <a:ext cx="5537829" cy="2612539"/>
            <a:chOff x="7662031" y="4363096"/>
            <a:chExt cx="3460391" cy="1778398"/>
          </a:xfrm>
        </p:grpSpPr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68B28861-1B54-18F1-404A-81A2232670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62031" y="4502667"/>
              <a:ext cx="3460391" cy="1231378"/>
              <a:chOff x="3099369" y="1997795"/>
              <a:chExt cx="6282867" cy="2235755"/>
            </a:xfrm>
          </p:grpSpPr>
          <p:pic>
            <p:nvPicPr>
              <p:cNvPr id="70" name="Content Placeholder 7">
                <a:extLst>
                  <a:ext uri="{FF2B5EF4-FFF2-40B4-BE49-F238E27FC236}">
                    <a16:creationId xmlns:a16="http://schemas.microsoft.com/office/drawing/2014/main" id="{B723EDB0-C340-BC8E-CDE3-967A7AAEE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60555" y="2350549"/>
                <a:ext cx="1508905" cy="1034954"/>
              </a:xfrm>
              <a:prstGeom prst="rect">
                <a:avLst/>
              </a:prstGeom>
            </p:spPr>
          </p:pic>
          <p:pic>
            <p:nvPicPr>
              <p:cNvPr id="71" name="Content Placeholder 3">
                <a:extLst>
                  <a:ext uri="{FF2B5EF4-FFF2-40B4-BE49-F238E27FC236}">
                    <a16:creationId xmlns:a16="http://schemas.microsoft.com/office/drawing/2014/main" id="{1C1E1CD8-BB98-B78E-4243-DAE17FCD3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71982" y="2485398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2" name="Picture 13">
                <a:extLst>
                  <a:ext uri="{FF2B5EF4-FFF2-40B4-BE49-F238E27FC236}">
                    <a16:creationId xmlns:a16="http://schemas.microsoft.com/office/drawing/2014/main" id="{F5248C19-C1D2-F98E-3BD0-A430DE65AE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15007" y="2966403"/>
                <a:ext cx="838200" cy="838200"/>
              </a:xfrm>
              <a:prstGeom prst="rect">
                <a:avLst/>
              </a:prstGeom>
            </p:spPr>
          </p:pic>
          <p:sp>
            <p:nvSpPr>
              <p:cNvPr id="73" name="Arrow: Right 14">
                <a:extLst>
                  <a:ext uri="{FF2B5EF4-FFF2-40B4-BE49-F238E27FC236}">
                    <a16:creationId xmlns:a16="http://schemas.microsoft.com/office/drawing/2014/main" id="{B540912B-5FF4-DC47-AC39-5AAB5D900B09}"/>
                  </a:ext>
                </a:extLst>
              </p:cNvPr>
              <p:cNvSpPr/>
              <p:nvPr/>
            </p:nvSpPr>
            <p:spPr>
              <a:xfrm>
                <a:off x="4466250" y="275136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74" name="Content Placeholder 3">
                <a:extLst>
                  <a:ext uri="{FF2B5EF4-FFF2-40B4-BE49-F238E27FC236}">
                    <a16:creationId xmlns:a16="http://schemas.microsoft.com/office/drawing/2014/main" id="{51ED87A5-C41E-1811-5165-424BE3F57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199779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5" name="Content Placeholder 3">
                <a:extLst>
                  <a:ext uri="{FF2B5EF4-FFF2-40B4-BE49-F238E27FC236}">
                    <a16:creationId xmlns:a16="http://schemas.microsoft.com/office/drawing/2014/main" id="{5E2B68BF-EFF8-C637-C4F6-3D767AD481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3027434"/>
                <a:ext cx="780738" cy="765256"/>
              </a:xfrm>
              <a:prstGeom prst="rect">
                <a:avLst/>
              </a:prstGeom>
            </p:spPr>
          </p:pic>
          <p:sp>
            <p:nvSpPr>
              <p:cNvPr id="76" name="Arrow: Right 17">
                <a:extLst>
                  <a:ext uri="{FF2B5EF4-FFF2-40B4-BE49-F238E27FC236}">
                    <a16:creationId xmlns:a16="http://schemas.microsoft.com/office/drawing/2014/main" id="{DC7F012B-F28C-509B-0F7B-C609A88688A4}"/>
                  </a:ext>
                </a:extLst>
              </p:cNvPr>
              <p:cNvSpPr/>
              <p:nvPr/>
            </p:nvSpPr>
            <p:spPr>
              <a:xfrm rot="20477482">
                <a:off x="6307518" y="2444209"/>
                <a:ext cx="810481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7" name="Arrow: Right 18">
                <a:extLst>
                  <a:ext uri="{FF2B5EF4-FFF2-40B4-BE49-F238E27FC236}">
                    <a16:creationId xmlns:a16="http://schemas.microsoft.com/office/drawing/2014/main" id="{97B54438-75BE-6D1E-01EA-E4D5EB34B80B}"/>
                  </a:ext>
                </a:extLst>
              </p:cNvPr>
              <p:cNvSpPr/>
              <p:nvPr/>
            </p:nvSpPr>
            <p:spPr>
              <a:xfrm rot="858815">
                <a:off x="6331770" y="3100525"/>
                <a:ext cx="841669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8" name="TextBox 20">
                <a:extLst>
                  <a:ext uri="{FF2B5EF4-FFF2-40B4-BE49-F238E27FC236}">
                    <a16:creationId xmlns:a16="http://schemas.microsoft.com/office/drawing/2014/main" id="{38D3B0C5-4066-84B0-1F77-625322AFC78F}"/>
                  </a:ext>
                </a:extLst>
              </p:cNvPr>
              <p:cNvSpPr txBox="1"/>
              <p:nvPr/>
            </p:nvSpPr>
            <p:spPr>
              <a:xfrm>
                <a:off x="3099369" y="3222976"/>
                <a:ext cx="2800480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RequestApproval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9" name="TextBox 21">
                <a:extLst>
                  <a:ext uri="{FF2B5EF4-FFF2-40B4-BE49-F238E27FC236}">
                    <a16:creationId xmlns:a16="http://schemas.microsoft.com/office/drawing/2014/main" id="{2641F8D0-92EC-6AE6-A804-2329487CD51F}"/>
                  </a:ext>
                </a:extLst>
              </p:cNvPr>
              <p:cNvSpPr txBox="1"/>
              <p:nvPr/>
            </p:nvSpPr>
            <p:spPr>
              <a:xfrm>
                <a:off x="7055566" y="3674734"/>
                <a:ext cx="1484937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Escalate</a:t>
                </a:r>
              </a:p>
            </p:txBody>
          </p:sp>
          <p:sp>
            <p:nvSpPr>
              <p:cNvPr id="80" name="TextBox 22">
                <a:extLst>
                  <a:ext uri="{FF2B5EF4-FFF2-40B4-BE49-F238E27FC236}">
                    <a16:creationId xmlns:a16="http://schemas.microsoft.com/office/drawing/2014/main" id="{70B8CDB1-7C4D-6422-2F8A-8568458191F0}"/>
                  </a:ext>
                </a:extLst>
              </p:cNvPr>
              <p:cNvSpPr txBox="1"/>
              <p:nvPr/>
            </p:nvSpPr>
            <p:spPr>
              <a:xfrm>
                <a:off x="6654520" y="2587543"/>
                <a:ext cx="2727716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ProcessApproval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503A116C-2E38-09F3-84BA-D503FF505EAC}"/>
                </a:ext>
              </a:extLst>
            </p:cNvPr>
            <p:cNvSpPr/>
            <p:nvPr/>
          </p:nvSpPr>
          <p:spPr>
            <a:xfrm>
              <a:off x="8104858" y="5723233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#5: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人による操作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a16:creationId xmlns:a16="http://schemas.microsoft.com/office/drawing/2014/main" id="{9C982E72-77C3-0288-334E-9C547AB7176C}"/>
                </a:ext>
              </a:extLst>
            </p:cNvPr>
            <p:cNvSpPr/>
            <p:nvPr/>
          </p:nvSpPr>
          <p:spPr bwMode="auto">
            <a:xfrm>
              <a:off x="7687132" y="4363096"/>
              <a:ext cx="310242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47E9A6D7-1831-AEF0-AC9A-559D85398147}"/>
              </a:ext>
            </a:extLst>
          </p:cNvPr>
          <p:cNvGrpSpPr/>
          <p:nvPr/>
        </p:nvGrpSpPr>
        <p:grpSpPr>
          <a:xfrm>
            <a:off x="308048" y="4144928"/>
            <a:ext cx="3742721" cy="2519815"/>
            <a:chOff x="4101341" y="4377094"/>
            <a:chExt cx="2769806" cy="1812106"/>
          </a:xfrm>
        </p:grpSpPr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9F604FCB-B289-914D-C14D-F7DFBE7C9A52}"/>
                </a:ext>
              </a:extLst>
            </p:cNvPr>
            <p:cNvSpPr/>
            <p:nvPr/>
          </p:nvSpPr>
          <p:spPr>
            <a:xfrm>
              <a:off x="4168163" y="5604425"/>
              <a:ext cx="2702984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#4: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ステートフル シングルトン</a:t>
              </a:r>
            </a:p>
          </p:txBody>
        </p:sp>
        <p:sp>
          <p:nvSpPr>
            <p:cNvPr id="83" name="四角形: 角を丸くする 82">
              <a:extLst>
                <a:ext uri="{FF2B5EF4-FFF2-40B4-BE49-F238E27FC236}">
                  <a16:creationId xmlns:a16="http://schemas.microsoft.com/office/drawing/2014/main" id="{FE9FD766-2695-D4A9-E72B-7BD9605B6085}"/>
                </a:ext>
              </a:extLst>
            </p:cNvPr>
            <p:cNvSpPr/>
            <p:nvPr/>
          </p:nvSpPr>
          <p:spPr bwMode="auto">
            <a:xfrm>
              <a:off x="4101341" y="4388533"/>
              <a:ext cx="216000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  <p:pic>
          <p:nvPicPr>
            <p:cNvPr id="84" name="図 83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AE6C083D-4EF8-DE23-AEFE-3787059AA6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7579" y="4377094"/>
              <a:ext cx="1646063" cy="1104691"/>
            </a:xfrm>
            <a:prstGeom prst="rect">
              <a:avLst/>
            </a:prstGeom>
          </p:spPr>
        </p:pic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DB43A555-B91D-9ECD-87E0-CDB9EEBA5127}"/>
              </a:ext>
            </a:extLst>
          </p:cNvPr>
          <p:cNvGrpSpPr/>
          <p:nvPr/>
        </p:nvGrpSpPr>
        <p:grpSpPr>
          <a:xfrm>
            <a:off x="8476149" y="4069224"/>
            <a:ext cx="4204047" cy="2612539"/>
            <a:chOff x="6764171" y="4429221"/>
            <a:chExt cx="2894643" cy="1778398"/>
          </a:xfrm>
        </p:grpSpPr>
        <p:pic>
          <p:nvPicPr>
            <p:cNvPr id="86" name="図 85" descr="記号, 挿絵 が含まれている画像&#10;&#10;自動的に生成された説明">
              <a:extLst>
                <a:ext uri="{FF2B5EF4-FFF2-40B4-BE49-F238E27FC236}">
                  <a16:creationId xmlns:a16="http://schemas.microsoft.com/office/drawing/2014/main" id="{1C7EE38B-97AB-77C4-CD3E-4437D1410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64171" y="4499255"/>
              <a:ext cx="2329188" cy="1047896"/>
            </a:xfrm>
            <a:prstGeom prst="rect">
              <a:avLst/>
            </a:prstGeom>
          </p:spPr>
        </p:pic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8B9990B-6B4B-C1BA-1C33-BC239F33A0C3}"/>
                </a:ext>
              </a:extLst>
            </p:cNvPr>
            <p:cNvSpPr/>
            <p:nvPr/>
          </p:nvSpPr>
          <p:spPr>
            <a:xfrm>
              <a:off x="6827590" y="5754720"/>
              <a:ext cx="28312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#6: </a:t>
              </a:r>
              <a:r>
                <a:rPr lang="ja-JP" altLang="en-US" sz="1600" kern="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アグリゲーター</a:t>
              </a:r>
              <a:endPara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四角形: 角を丸くする 87">
              <a:extLst>
                <a:ext uri="{FF2B5EF4-FFF2-40B4-BE49-F238E27FC236}">
                  <a16:creationId xmlns:a16="http://schemas.microsoft.com/office/drawing/2014/main" id="{90620E16-84F2-6E85-21C2-F93A1466DA7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6988" y="4429221"/>
              <a:ext cx="2256273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285362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45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20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070000" y="2900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9820000" y="2900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100000" y="2520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9850000" y="2520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0000" y="3650000"/>
            <a:ext cx="4900000" cy="35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i="1" dirty="0">
                <a:solidFill>
                  <a:srgbClr val="107C10"/>
                </a:solidFill>
              </a:rPr>
              <a:t>マネージドサービス（完全 SaaS）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3533275"/>
          </a:xfrm>
        </p:spPr>
        <p:txBody>
          <a:bodyPr/>
          <a:lstStyle/>
          <a:p>
            <a:pPr>
              <a:buNone/>
            </a:pPr>
            <a:r>
              <a:rPr lang="ja-JP" b="1" dirty="0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  <a:endParaRPr lang="en-US" altLang="ja-JP" dirty="0"/>
          </a:p>
          <a:p>
            <a:pPr lvl="0"/>
            <a:r>
              <a:rPr lang="ja-JP" altLang="en-US" dirty="0"/>
              <a:t>処理の制御は </a:t>
            </a:r>
            <a:r>
              <a:rPr lang="en-US" altLang="ja-JP" dirty="0"/>
              <a:t>Queue </a:t>
            </a:r>
            <a:r>
              <a:rPr lang="ja-JP" altLang="en-US" dirty="0"/>
              <a:t>で実装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3385542"/>
          </a:xfrm>
        </p:spPr>
        <p:txBody>
          <a:bodyPr/>
          <a:lstStyle/>
          <a:p>
            <a:pPr>
              <a:buNone/>
            </a:pPr>
            <a:r>
              <a:rPr lang="ja-JP" b="1" dirty="0"/>
              <a:t>DTS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  <a:endParaRPr lang="en-US" altLang="ja-JP" dirty="0"/>
          </a:p>
          <a:p>
            <a:pPr lvl="1"/>
            <a:r>
              <a:rPr lang="ja-JP" altLang="en-US" dirty="0"/>
              <a:t>かっこいい！！</a:t>
            </a:r>
            <a:endParaRPr lang="ja-JP" dirty="0"/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6268"/>
            <a:ext cx="9144000" cy="615553"/>
          </a:xfrm>
        </p:spPr>
        <p:txBody>
          <a:bodyPr/>
          <a:lstStyle/>
          <a:p>
            <a:r>
              <a:rPr lang="ja-JP" altLang="en-US" dirty="0"/>
              <a:t>デモ</a:t>
            </a:r>
            <a:endParaRPr lang="ja-JP" dirty="0"/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0" y="1400000"/>
            <a:ext cx="5500000" cy="4700000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= Event Sourcing</a:t>
            </a:r>
          </a:p>
          <a:p>
            <a:pPr lvl="0"/>
            <a:r>
              <a:rPr lang="ja-JP" dirty="0"/>
              <a:t>落ちても続きから動く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→ 次は Durable Agent 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68</TotalTime>
  <Words>473</Words>
  <Application>Microsoft Office PowerPoint</Application>
  <PresentationFormat>ワイド画面</PresentationFormat>
  <Paragraphs>148</Paragraphs>
  <Slides>19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7" baseType="lpstr">
      <vt:lpstr>Yu Gothic UI</vt:lpstr>
      <vt:lpstr>Yu Gothic UI Light</vt:lpstr>
      <vt:lpstr>游ゴシック</vt:lpstr>
      <vt:lpstr>Arial</vt:lpstr>
      <vt:lpstr>Consolas</vt:lpstr>
      <vt:lpstr>Segoe UI</vt:lpstr>
      <vt:lpstr>Wingdings</vt:lpstr>
      <vt:lpstr>2024-07-29-theme</vt:lpstr>
      <vt:lpstr>Durable Functions 入門</vt:lpstr>
      <vt:lpstr>Kazuki Ota</vt:lpstr>
      <vt:lpstr>アジェンダ</vt:lpstr>
      <vt:lpstr>Azure Functions とは</vt:lpstr>
      <vt:lpstr>Azure Functions 概要</vt:lpstr>
      <vt:lpstr>Azure Functions 概要</vt:lpstr>
      <vt:lpstr>Azure Functions の特徴</vt:lpstr>
      <vt:lpstr>Durable Functions とは</vt:lpstr>
      <vt:lpstr>Durable Functions とは</vt:lpstr>
      <vt:lpstr>Functions の課題と解決</vt:lpstr>
      <vt:lpstr>Event Sourcing で耐久性</vt:lpstr>
      <vt:lpstr>アーキテクチャ</vt:lpstr>
      <vt:lpstr>Durable Functions の実装パターン</vt:lpstr>
      <vt:lpstr>Durable Task Scheduler</vt:lpstr>
      <vt:lpstr>Durable Task Scheduler (DTS)</vt:lpstr>
      <vt:lpstr>Storage バックエンドとの比較</vt:lpstr>
      <vt:lpstr>デモ</vt:lpstr>
      <vt:lpstr>まとめ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3</cp:revision>
  <dcterms:created xsi:type="dcterms:W3CDTF">2026-05-21T06:38:06Z</dcterms:created>
  <dcterms:modified xsi:type="dcterms:W3CDTF">2026-06-06T11:29:34Z</dcterms:modified>
</cp:coreProperties>
</file>